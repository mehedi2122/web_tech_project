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6" r:id="rId7"/>
    <p:sldId id="289" r:id="rId8"/>
    <p:sldId id="283" r:id="rId9"/>
    <p:sldId id="284" r:id="rId10"/>
    <p:sldId id="285" r:id="rId11"/>
    <p:sldId id="282" r:id="rId12"/>
    <p:sldId id="286" r:id="rId13"/>
    <p:sldId id="296" r:id="rId14"/>
    <p:sldId id="299" r:id="rId15"/>
    <p:sldId id="300" r:id="rId16"/>
    <p:sldId id="336" r:id="rId17"/>
    <p:sldId id="339" r:id="rId18"/>
    <p:sldId id="340" r:id="rId19"/>
    <p:sldId id="337" r:id="rId20"/>
    <p:sldId id="338" r:id="rId21"/>
    <p:sldId id="264" r:id="rId22"/>
    <p:sldId id="26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26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ustak.nobi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hp/note.xml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p.net/docs.php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recked/7329961" TargetMode="External"/><Relationship Id="rId2" Type="http://schemas.openxmlformats.org/officeDocument/2006/relationships/hyperlink" Target="http://www.kodecrash.com/javascript/read-write-json-file-using-php/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code.tutsplus.com/tutorials/how-to-upload-a-file-in-php-with-example--cms-31763" TargetMode="External"/><Relationship Id="rId4" Type="http://schemas.openxmlformats.org/officeDocument/2006/relationships/hyperlink" Target="https://www.kodingmadesimple.com/2016/05/how-to-write-json-to-file-in-php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Access using PHP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31755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</a:t>
                      </a:r>
                      <a:r>
                        <a:rPr lang="en-US" i="1" dirty="0" err="1"/>
                        <a:t>Mustak</a:t>
                      </a:r>
                      <a:r>
                        <a:rPr lang="en-US" i="1"/>
                        <a:t> Un Nobi  ( </a:t>
                      </a:r>
                      <a:r>
                        <a:rPr lang="en-US" i="1">
                          <a:hlinkClick r:id="rId2"/>
                        </a:rPr>
                        <a:t>mustak.nobi@aiub.edu</a:t>
                      </a:r>
                      <a:r>
                        <a:rPr lang="en-US" i="1"/>
                        <a:t> ) 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Access using PHP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142309"/>
            <a:ext cx="7754112" cy="394498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Learning outcome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Data Access using PHP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600" b="1" dirty="0">
                <a:solidFill>
                  <a:schemeClr val="tx1"/>
                </a:solidFill>
              </a:rPr>
              <a:t>Data Read / Write in text file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sz="2600" b="1" dirty="0">
                <a:solidFill>
                  <a:schemeClr val="tx1"/>
                </a:solidFill>
              </a:rPr>
              <a:t>PHP </a:t>
            </a:r>
            <a:r>
              <a:rPr lang="en-US" sz="2600" b="1" dirty="0" err="1">
                <a:solidFill>
                  <a:schemeClr val="tx1"/>
                </a:solidFill>
              </a:rPr>
              <a:t>SimpleXML</a:t>
            </a:r>
            <a:r>
              <a:rPr lang="en-US" sz="2600" b="1" dirty="0">
                <a:solidFill>
                  <a:schemeClr val="tx1"/>
                </a:solidFill>
              </a:rPr>
              <a:t>/JSON - Read /write in xml File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PHP Include Files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Upload File in PHP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Books and References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 dirty="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 dirty="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2800" b="1" dirty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8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outcome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41519" y="2135452"/>
            <a:ext cx="82295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In this lecture, we will learn “read the form data and write to the files”.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In between, we will assign data to the class variable(object) or Array.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pic>
        <p:nvPicPr>
          <p:cNvPr id="4098" name="Picture 2" descr="E:\Spring 2019-2020\Web Tech\Silde Web Tech\Back Up\jquery-php-form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983" y="3705111"/>
            <a:ext cx="5519329" cy="247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Access using PHP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The </a:t>
            </a:r>
            <a:r>
              <a:rPr lang="en-US" sz="2400" dirty="0" err="1"/>
              <a:t>readfile</a:t>
            </a:r>
            <a:r>
              <a:rPr lang="en-US" sz="2400" dirty="0"/>
              <a:t>() function reads a file and writes it to the output buffer.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24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2400" dirty="0"/>
            </a:br>
            <a:r>
              <a:rPr lang="en-US" sz="24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/>
              </a:rPr>
              <a:t>readfile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400" dirty="0">
                <a:solidFill>
                  <a:srgbClr val="A52A2A"/>
                </a:solidFill>
                <a:latin typeface="Consolas"/>
              </a:rPr>
              <a:t>"webdictionary.txt"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);</a:t>
            </a:r>
            <a:br>
              <a:rPr lang="en-US" sz="2400" dirty="0"/>
            </a:br>
            <a:r>
              <a:rPr lang="en-US" sz="2400" dirty="0">
                <a:solidFill>
                  <a:srgbClr val="FF0000"/>
                </a:solidFill>
                <a:latin typeface="Consolas"/>
              </a:rPr>
              <a:t>?&gt;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In the webdictionary.txt file have the following content:</a:t>
            </a:r>
          </a:p>
          <a:p>
            <a:pPr lvl="1"/>
            <a:endParaRPr lang="en-US" dirty="0">
              <a:latin typeface="Consolas" pitchFamily="49" charset="0"/>
            </a:endParaRPr>
          </a:p>
          <a:p>
            <a:pPr lvl="1"/>
            <a:r>
              <a:rPr lang="en-US" dirty="0">
                <a:latin typeface="Consolas" pitchFamily="49" charset="0"/>
              </a:rPr>
              <a:t>AJAX = Asynchronous JavaScript and XML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latin typeface="Consolas" pitchFamily="49" charset="0"/>
              </a:rPr>
              <a:t>CSS = Cascading Style Sheets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latin typeface="Consolas" pitchFamily="49" charset="0"/>
              </a:rPr>
              <a:t>HTML = Hyper Text Markup Language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latin typeface="Consolas" pitchFamily="49" charset="0"/>
              </a:rPr>
              <a:t>PHP = PHP Hypertext Preprocessor</a:t>
            </a:r>
            <a:endParaRPr lang="en-US" dirty="0">
              <a:solidFill>
                <a:srgbClr val="FF0000"/>
              </a:solidFill>
              <a:latin typeface="Consolas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Data Read / Write in text file</a:t>
            </a:r>
          </a:p>
        </p:txBody>
      </p:sp>
    </p:spTree>
    <p:extLst>
      <p:ext uri="{BB962C8B-B14F-4D97-AF65-F5344CB8AC3E}">
        <p14:creationId xmlns:p14="http://schemas.microsoft.com/office/powerpoint/2010/main" val="1277297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Access using PHP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A better method to open files is with the </a:t>
            </a:r>
            <a:r>
              <a:rPr lang="en-US" sz="2400" dirty="0" err="1"/>
              <a:t>fopen</a:t>
            </a:r>
            <a:r>
              <a:rPr lang="en-US" sz="2400" dirty="0"/>
              <a:t>() function. This function gives you more options than the </a:t>
            </a:r>
            <a:r>
              <a:rPr lang="en-US" sz="2400" dirty="0" err="1"/>
              <a:t>readfile</a:t>
            </a:r>
            <a:r>
              <a:rPr lang="en-US" sz="2400" dirty="0"/>
              <a:t>() function.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$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myfile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fopen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"webdictionary.txt"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"r"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) </a:t>
            </a:r>
            <a:r>
              <a:rPr lang="en-US" dirty="0">
                <a:solidFill>
                  <a:srgbClr val="0000CD"/>
                </a:solidFill>
                <a:latin typeface="Consolas" pitchFamily="49" charset="0"/>
              </a:rPr>
              <a:t>or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itchFamily="49" charset="0"/>
              </a:rPr>
              <a:t>die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"Unable to open file!"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);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fread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($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myfile,filesize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"webdictionary.txt"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));</a:t>
            </a:r>
            <a:br>
              <a:rPr lang="en-US" dirty="0">
                <a:latin typeface="Consolas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fclose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($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myfile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);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itchFamily="49" charset="0"/>
              </a:rPr>
              <a:t>?&gt;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“r” means Open a file for read only. File pointer starts at the beginning of the file.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“w”	Open a file for write only. Erases the contents of the file or creates a new file if it doesn't exist. File pointer starts at the beginning of the file</a:t>
            </a:r>
          </a:p>
          <a:p>
            <a:pPr marL="457200" indent="-457200">
              <a:buFont typeface="Arial" pitchFamily="34" charset="0"/>
              <a:buChar char="•"/>
            </a:pPr>
            <a:endParaRPr lang="en-US" dirty="0">
              <a:solidFill>
                <a:srgbClr val="FF0000"/>
              </a:solidFill>
              <a:latin typeface="Consolas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Data Read / Write in text file</a:t>
            </a:r>
          </a:p>
        </p:txBody>
      </p:sp>
    </p:spTree>
    <p:extLst>
      <p:ext uri="{BB962C8B-B14F-4D97-AF65-F5344CB8AC3E}">
        <p14:creationId xmlns:p14="http://schemas.microsoft.com/office/powerpoint/2010/main" val="2255580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Data Read / Write in text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92221" y="1423200"/>
            <a:ext cx="82598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A better method to open files is with the </a:t>
            </a:r>
            <a:r>
              <a:rPr lang="en-US" dirty="0" err="1"/>
              <a:t>fopen</a:t>
            </a:r>
            <a:r>
              <a:rPr lang="en-US" dirty="0"/>
              <a:t>() function. This function gives you more options than the </a:t>
            </a:r>
            <a:r>
              <a:rPr lang="en-US" dirty="0" err="1"/>
              <a:t>readfile</a:t>
            </a:r>
            <a:r>
              <a:rPr lang="en-US" dirty="0"/>
              <a:t>() function.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$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myfile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fopen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"webdictionary.txt"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"r"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) </a:t>
            </a:r>
            <a:r>
              <a:rPr lang="en-US" dirty="0">
                <a:solidFill>
                  <a:srgbClr val="0000CD"/>
                </a:solidFill>
                <a:latin typeface="Consolas" pitchFamily="49" charset="0"/>
              </a:rPr>
              <a:t>or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itchFamily="49" charset="0"/>
              </a:rPr>
              <a:t>die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"Unable to open file!"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);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fread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($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myfile,filesize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"webdictionary.txt"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));</a:t>
            </a:r>
            <a:br>
              <a:rPr lang="en-US" dirty="0">
                <a:latin typeface="Consolas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fclose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($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myfile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);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itchFamily="49" charset="0"/>
              </a:rPr>
              <a:t>?&gt;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“r” means Open a file for read only. File pointer starts at the beginning of the file.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“w”	Open a file for write only. Erases the contents of the file or creates a new file if it doesn't exist. File pointer starts at the beginning of the file.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“a”	Open a file for write only. The existing data in file is preserved. File pointer starts at the end of the file. Creates a new file if the file doesn't exist</a:t>
            </a:r>
          </a:p>
        </p:txBody>
      </p:sp>
    </p:spTree>
    <p:extLst>
      <p:ext uri="{BB962C8B-B14F-4D97-AF65-F5344CB8AC3E}">
        <p14:creationId xmlns:p14="http://schemas.microsoft.com/office/powerpoint/2010/main" val="1904248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PHP Write to File - </a:t>
            </a:r>
            <a:r>
              <a:rPr lang="en-US" sz="2600" b="1" dirty="0" err="1">
                <a:solidFill>
                  <a:schemeClr val="tx1"/>
                </a:solidFill>
              </a:rPr>
              <a:t>fwrite</a:t>
            </a:r>
            <a:r>
              <a:rPr lang="en-US" sz="2600" b="1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92221" y="1423200"/>
            <a:ext cx="8259893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 err="1"/>
              <a:t>fwrite</a:t>
            </a:r>
            <a:r>
              <a:rPr lang="en-US" sz="2000" dirty="0"/>
              <a:t>() function is used to write to a file.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/>
              <a:t>The first parameter of </a:t>
            </a:r>
            <a:r>
              <a:rPr lang="en-US" sz="2000" dirty="0" err="1"/>
              <a:t>fwrite</a:t>
            </a:r>
            <a:r>
              <a:rPr lang="en-US" sz="2000" dirty="0"/>
              <a:t>() contains the name of the file to write to and the second parameter is the string to be written.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$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myfile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fopen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"newfile.txt"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"w"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) </a:t>
            </a:r>
            <a:r>
              <a:rPr lang="en-US" dirty="0">
                <a:solidFill>
                  <a:srgbClr val="0000CD"/>
                </a:solidFill>
                <a:latin typeface="Consolas" pitchFamily="49" charset="0"/>
              </a:rPr>
              <a:t>or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itchFamily="49" charset="0"/>
              </a:rPr>
              <a:t>die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"Unable to open file!"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);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$txt = 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"John Doe\n"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dirty="0">
                <a:latin typeface="Consolas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fwrite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($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myfile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, $txt);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$txt = </a:t>
            </a:r>
            <a:r>
              <a:rPr lang="en-US" dirty="0">
                <a:solidFill>
                  <a:srgbClr val="A52A2A"/>
                </a:solidFill>
                <a:latin typeface="Consolas" pitchFamily="49" charset="0"/>
              </a:rPr>
              <a:t>"Jane Doe\n"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dirty="0">
                <a:latin typeface="Consolas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fwrite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($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myfile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, $txt);</a:t>
            </a:r>
            <a:br>
              <a:rPr lang="en-US" dirty="0">
                <a:latin typeface="Consolas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fclose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($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myfile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);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endParaRPr lang="en-US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874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Access using PHP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Assume we have an XML file called "</a:t>
            </a:r>
            <a:r>
              <a:rPr lang="en-US" sz="2400" dirty="0">
                <a:hlinkClick r:id="rId2"/>
              </a:rPr>
              <a:t>note.xml</a:t>
            </a:r>
            <a:r>
              <a:rPr lang="en-US" sz="2400" dirty="0"/>
              <a:t>", that looks like this: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?xml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 version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="1.0"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 encoding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="UTF-8“ 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?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note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to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Tove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/to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from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Jani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/from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heading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Reminder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/heading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body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Don't forget me this weekend!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/body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/note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en-US" sz="2400" dirty="0" err="1">
                <a:solidFill>
                  <a:prstClr val="black"/>
                </a:solidFill>
              </a:rPr>
              <a:t>simplexml_load_file</a:t>
            </a:r>
            <a:r>
              <a:rPr lang="en-US" sz="2400" dirty="0">
                <a:solidFill>
                  <a:prstClr val="black"/>
                </a:solidFill>
              </a:rPr>
              <a:t>() function to read XML data from file:</a:t>
            </a:r>
            <a:endParaRPr lang="en-US" sz="1600" dirty="0">
              <a:solidFill>
                <a:srgbClr val="0000CD"/>
              </a:solidFill>
              <a:latin typeface="Consolas"/>
            </a:endParaRPr>
          </a:p>
          <a:p>
            <a:pPr lvl="0"/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&lt;?php</a:t>
            </a:r>
            <a:br>
              <a:rPr lang="en-US" sz="1600" dirty="0">
                <a:solidFill>
                  <a:prstClr val="black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$xml=simplexml_load_file(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"note.xml"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)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or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die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"Error: Cannot create object"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);</a:t>
            </a:r>
            <a:br>
              <a:rPr lang="en-US" sz="1600" dirty="0">
                <a:solidFill>
                  <a:prstClr val="black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print_r($xml);</a:t>
            </a:r>
          </a:p>
          <a:p>
            <a:r>
              <a:rPr lang="en-US" sz="1600" dirty="0">
                <a:solidFill>
                  <a:prstClr val="black"/>
                </a:solidFill>
                <a:latin typeface="Consolas" pitchFamily="49" charset="0"/>
              </a:rPr>
              <a:t>echo $xml[0]-&gt;note[0]-&gt;</a:t>
            </a:r>
            <a:r>
              <a:rPr lang="en-US" sz="1600" dirty="0">
                <a:latin typeface="Consolas"/>
              </a:rPr>
              <a:t>to</a:t>
            </a:r>
            <a:r>
              <a:rPr lang="en-US" sz="1600" dirty="0">
                <a:latin typeface="Consolas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pPr lvl="0"/>
            <a:br>
              <a:rPr lang="en-US" sz="1600" dirty="0">
                <a:solidFill>
                  <a:prstClr val="black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endParaRPr lang="en-US" sz="1600" dirty="0">
              <a:solidFill>
                <a:srgbClr val="0000CD"/>
              </a:solidFill>
              <a:latin typeface="Consolas" pitchFamily="49" charset="0"/>
            </a:endParaRPr>
          </a:p>
          <a:p>
            <a:endParaRPr lang="en-US" sz="1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PHP </a:t>
            </a:r>
            <a:r>
              <a:rPr lang="en-US" dirty="0" err="1"/>
              <a:t>SimpleXML</a:t>
            </a:r>
            <a:r>
              <a:rPr lang="en-US" dirty="0"/>
              <a:t> - Read /write in xml File</a:t>
            </a:r>
          </a:p>
        </p:txBody>
      </p:sp>
    </p:spTree>
    <p:extLst>
      <p:ext uri="{BB962C8B-B14F-4D97-AF65-F5344CB8AC3E}">
        <p14:creationId xmlns:p14="http://schemas.microsoft.com/office/powerpoint/2010/main" val="3223371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600" b="1" dirty="0">
                <a:solidFill>
                  <a:schemeClr val="tx1"/>
                </a:solidFill>
              </a:rPr>
              <a:t>Creating a XML Document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92221" y="1423200"/>
            <a:ext cx="825989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/>
              <a:t>The following code above is great and generates XML.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/>
              <a:t>The  </a:t>
            </a:r>
            <a:r>
              <a:rPr lang="en-US" sz="2000" dirty="0" err="1"/>
              <a:t>file_put_contents</a:t>
            </a:r>
            <a:r>
              <a:rPr lang="en-US" sz="2000" dirty="0"/>
              <a:t>() function create a separate XML file called </a:t>
            </a:r>
            <a:r>
              <a:rPr lang="en-US" sz="2000" b="1" dirty="0"/>
              <a:t>books.xml</a:t>
            </a:r>
            <a:r>
              <a:rPr lang="en-US" sz="2000" dirty="0"/>
              <a:t>.</a:t>
            </a:r>
          </a:p>
          <a:p>
            <a:pPr lvl="1"/>
            <a:r>
              <a:rPr lang="en-US" sz="1600" dirty="0">
                <a:latin typeface="Consolas" pitchFamily="49" charset="0"/>
              </a:rPr>
              <a:t>	&lt;?</a:t>
            </a:r>
            <a:r>
              <a:rPr lang="en-US" sz="1600" dirty="0" err="1">
                <a:latin typeface="Consolas" pitchFamily="49" charset="0"/>
              </a:rPr>
              <a:t>php</a:t>
            </a:r>
            <a:endParaRPr lang="en-US" sz="1600" dirty="0">
              <a:latin typeface="Consolas" pitchFamily="49" charset="0"/>
            </a:endParaRPr>
          </a:p>
          <a:p>
            <a:pPr lvl="2"/>
            <a:r>
              <a:rPr lang="en-US" sz="1600" dirty="0">
                <a:latin typeface="Consolas" pitchFamily="49" charset="0"/>
              </a:rPr>
              <a:t>$</a:t>
            </a:r>
            <a:r>
              <a:rPr lang="en-US" sz="1600" dirty="0" err="1">
                <a:latin typeface="Consolas" pitchFamily="49" charset="0"/>
              </a:rPr>
              <a:t>simplexml</a:t>
            </a:r>
            <a:r>
              <a:rPr lang="en-US" sz="1600" dirty="0">
                <a:latin typeface="Consolas" pitchFamily="49" charset="0"/>
              </a:rPr>
              <a:t>= new </a:t>
            </a:r>
            <a:r>
              <a:rPr lang="en-US" sz="1600" dirty="0" err="1">
                <a:latin typeface="Consolas" pitchFamily="49" charset="0"/>
              </a:rPr>
              <a:t>SimpleXMLElement</a:t>
            </a:r>
            <a:r>
              <a:rPr lang="en-US" sz="1600" dirty="0">
                <a:latin typeface="Consolas" pitchFamily="49" charset="0"/>
              </a:rPr>
              <a:t>('&lt;?xml version="1.0"?&gt;&lt;books/&gt;');</a:t>
            </a:r>
          </a:p>
          <a:p>
            <a:pPr lvl="2"/>
            <a:r>
              <a:rPr lang="en-US" sz="1600" dirty="0">
                <a:latin typeface="Consolas" pitchFamily="49" charset="0"/>
              </a:rPr>
              <a:t>$book1= $</a:t>
            </a:r>
            <a:r>
              <a:rPr lang="en-US" sz="1600" dirty="0" err="1">
                <a:latin typeface="Consolas" pitchFamily="49" charset="0"/>
              </a:rPr>
              <a:t>simplexml</a:t>
            </a:r>
            <a:r>
              <a:rPr lang="en-US" sz="1600" dirty="0">
                <a:latin typeface="Consolas" pitchFamily="49" charset="0"/>
              </a:rPr>
              <a:t>-&gt;</a:t>
            </a:r>
            <a:r>
              <a:rPr lang="en-US" sz="1600" dirty="0" err="1">
                <a:latin typeface="Consolas" pitchFamily="49" charset="0"/>
              </a:rPr>
              <a:t>addChild</a:t>
            </a:r>
            <a:r>
              <a:rPr lang="en-US" sz="1600" dirty="0">
                <a:latin typeface="Consolas" pitchFamily="49" charset="0"/>
              </a:rPr>
              <a:t>('book');</a:t>
            </a:r>
          </a:p>
          <a:p>
            <a:pPr lvl="2"/>
            <a:r>
              <a:rPr lang="en-US" sz="1600" dirty="0">
                <a:latin typeface="Consolas" pitchFamily="49" charset="0"/>
              </a:rPr>
              <a:t>$book1-&gt;</a:t>
            </a:r>
            <a:r>
              <a:rPr lang="en-US" sz="1600" dirty="0" err="1">
                <a:latin typeface="Consolas" pitchFamily="49" charset="0"/>
              </a:rPr>
              <a:t>addChild</a:t>
            </a:r>
            <a:r>
              <a:rPr lang="en-US" sz="1600" dirty="0">
                <a:latin typeface="Consolas" pitchFamily="49" charset="0"/>
              </a:rPr>
              <a:t>("</a:t>
            </a:r>
            <a:r>
              <a:rPr lang="en-US" sz="1600" dirty="0" err="1">
                <a:latin typeface="Consolas" pitchFamily="49" charset="0"/>
              </a:rPr>
              <a:t>Booktitle</a:t>
            </a:r>
            <a:r>
              <a:rPr lang="en-US" sz="1600" dirty="0">
                <a:latin typeface="Consolas" pitchFamily="49" charset="0"/>
              </a:rPr>
              <a:t>", "The Wandering Oz");</a:t>
            </a:r>
          </a:p>
          <a:p>
            <a:pPr lvl="2"/>
            <a:r>
              <a:rPr lang="en-US" sz="1600" dirty="0">
                <a:latin typeface="Consolas" pitchFamily="49" charset="0"/>
              </a:rPr>
              <a:t>$book1-&gt;</a:t>
            </a:r>
            <a:r>
              <a:rPr lang="en-US" sz="1600" dirty="0" err="1">
                <a:latin typeface="Consolas" pitchFamily="49" charset="0"/>
              </a:rPr>
              <a:t>addChild</a:t>
            </a:r>
            <a:r>
              <a:rPr lang="en-US" sz="1600" dirty="0">
                <a:latin typeface="Consolas" pitchFamily="49" charset="0"/>
              </a:rPr>
              <a:t>("</a:t>
            </a:r>
            <a:r>
              <a:rPr lang="en-US" dirty="0"/>
              <a:t>PublicationDate</a:t>
            </a:r>
            <a:r>
              <a:rPr lang="en-US" sz="1600" dirty="0">
                <a:latin typeface="Consolas" pitchFamily="49" charset="0"/>
              </a:rPr>
              <a:t>“,2007);</a:t>
            </a:r>
          </a:p>
          <a:p>
            <a:pPr lvl="2"/>
            <a:endParaRPr lang="en-US" sz="1600" dirty="0">
              <a:latin typeface="Consolas" pitchFamily="49" charset="0"/>
            </a:endParaRPr>
          </a:p>
          <a:p>
            <a:pPr lvl="2"/>
            <a:r>
              <a:rPr lang="en-US" sz="1600" dirty="0">
                <a:latin typeface="Consolas" pitchFamily="49" charset="0"/>
              </a:rPr>
              <a:t>$book2= $</a:t>
            </a:r>
            <a:r>
              <a:rPr lang="en-US" sz="1600" dirty="0" err="1">
                <a:latin typeface="Consolas" pitchFamily="49" charset="0"/>
              </a:rPr>
              <a:t>simplexml</a:t>
            </a:r>
            <a:r>
              <a:rPr lang="en-US" sz="1600" dirty="0">
                <a:latin typeface="Consolas" pitchFamily="49" charset="0"/>
              </a:rPr>
              <a:t>-&gt;</a:t>
            </a:r>
            <a:r>
              <a:rPr lang="en-US" sz="1600" dirty="0" err="1">
                <a:latin typeface="Consolas" pitchFamily="49" charset="0"/>
              </a:rPr>
              <a:t>addChild</a:t>
            </a:r>
            <a:r>
              <a:rPr lang="en-US" sz="1600" dirty="0">
                <a:latin typeface="Consolas" pitchFamily="49" charset="0"/>
              </a:rPr>
              <a:t>('book');</a:t>
            </a:r>
          </a:p>
          <a:p>
            <a:pPr lvl="2"/>
            <a:r>
              <a:rPr lang="en-US" sz="1600" dirty="0">
                <a:latin typeface="Consolas" pitchFamily="49" charset="0"/>
              </a:rPr>
              <a:t>$book2-&gt;</a:t>
            </a:r>
            <a:r>
              <a:rPr lang="en-US" sz="1600" dirty="0" err="1">
                <a:latin typeface="Consolas" pitchFamily="49" charset="0"/>
              </a:rPr>
              <a:t>addChild</a:t>
            </a:r>
            <a:r>
              <a:rPr lang="en-US" sz="1600" dirty="0">
                <a:latin typeface="Consolas" pitchFamily="49" charset="0"/>
              </a:rPr>
              <a:t>("</a:t>
            </a:r>
            <a:r>
              <a:rPr lang="en-US" sz="1600" dirty="0" err="1">
                <a:latin typeface="Consolas" pitchFamily="49" charset="0"/>
              </a:rPr>
              <a:t>Booktitle</a:t>
            </a:r>
            <a:r>
              <a:rPr lang="en-US" sz="1600" dirty="0">
                <a:latin typeface="Consolas" pitchFamily="49" charset="0"/>
              </a:rPr>
              <a:t>", "The Roaming Fox");</a:t>
            </a:r>
          </a:p>
          <a:p>
            <a:pPr lvl="2"/>
            <a:r>
              <a:rPr lang="en-US" sz="1600" dirty="0">
                <a:latin typeface="Consolas" pitchFamily="49" charset="0"/>
              </a:rPr>
              <a:t>$book2-&gt;</a:t>
            </a:r>
            <a:r>
              <a:rPr lang="en-US" sz="1600" dirty="0" err="1">
                <a:latin typeface="Consolas" pitchFamily="49" charset="0"/>
              </a:rPr>
              <a:t>addChild</a:t>
            </a:r>
            <a:r>
              <a:rPr lang="en-US" sz="1600" dirty="0">
                <a:latin typeface="Consolas" pitchFamily="49" charset="0"/>
              </a:rPr>
              <a:t>("</a:t>
            </a:r>
            <a:r>
              <a:rPr lang="en-US" sz="1600" dirty="0" err="1">
                <a:latin typeface="Consolas" pitchFamily="49" charset="0"/>
              </a:rPr>
              <a:t>PublicationDate</a:t>
            </a:r>
            <a:r>
              <a:rPr lang="en-US" sz="1600" dirty="0">
                <a:latin typeface="Consolas" pitchFamily="49" charset="0"/>
              </a:rPr>
              <a:t>", 2009);  </a:t>
            </a:r>
          </a:p>
          <a:p>
            <a:pPr lvl="2"/>
            <a:endParaRPr lang="en-US" sz="1600" dirty="0">
              <a:latin typeface="Consolas" pitchFamily="49" charset="0"/>
            </a:endParaRPr>
          </a:p>
          <a:p>
            <a:pPr lvl="2"/>
            <a:r>
              <a:rPr lang="en-US" sz="1600" dirty="0">
                <a:latin typeface="Consolas" pitchFamily="49" charset="0"/>
              </a:rPr>
              <a:t>file_put_contents('books.xml', $</a:t>
            </a:r>
            <a:r>
              <a:rPr lang="en-US" sz="1600" dirty="0" err="1">
                <a:latin typeface="Consolas" pitchFamily="49" charset="0"/>
              </a:rPr>
              <a:t>simplexml</a:t>
            </a:r>
            <a:r>
              <a:rPr lang="en-US" sz="1600" dirty="0">
                <a:latin typeface="Consolas" pitchFamily="49" charset="0"/>
              </a:rPr>
              <a:t>-&gt;</a:t>
            </a:r>
            <a:r>
              <a:rPr lang="en-US" sz="1600" dirty="0" err="1">
                <a:latin typeface="Consolas" pitchFamily="49" charset="0"/>
              </a:rPr>
              <a:t>asXML</a:t>
            </a:r>
            <a:r>
              <a:rPr lang="en-US" sz="1600" dirty="0">
                <a:latin typeface="Consolas" pitchFamily="49" charset="0"/>
              </a:rPr>
              <a:t>());</a:t>
            </a:r>
          </a:p>
          <a:p>
            <a:pPr lvl="2"/>
            <a:r>
              <a:rPr lang="en-US" sz="1600" dirty="0">
                <a:latin typeface="Consolas" pitchFamily="49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836570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41519" y="2135452"/>
            <a:ext cx="82295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A JSON file is a file that stores simple data structures and objects in JavaScript Object Notation (JSON) format, which is a standard data interchange format.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It is primarily used for transmitting data between a web application and a server. JSON files are lightweight, text-based, human-readable, and can be edited using a text editor.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81690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0DA03-1227-4496-A172-47FFFFF1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JSON vs XML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93E2FD9-CEC2-4694-AFC1-692ECADF6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41" y="2155558"/>
            <a:ext cx="8386441" cy="360098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dirty="0"/>
              <a:t>Similarities: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are "self describing" (human readable)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are hierarchical (values within values)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can be parsed and used by lots of programming languages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can be fetched with an </a:t>
            </a:r>
            <a:r>
              <a:rPr lang="en-US" sz="2000" dirty="0" err="1"/>
              <a:t>XMLHttpRequest</a:t>
            </a:r>
            <a:endParaRPr lang="en-US" sz="2000" dirty="0"/>
          </a:p>
          <a:p>
            <a:r>
              <a:rPr lang="en-US" sz="2400" dirty="0"/>
              <a:t>Differences: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doesn't use end tag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is shorter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is quicker to read and write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can use arrays</a:t>
            </a:r>
          </a:p>
        </p:txBody>
      </p:sp>
    </p:spTree>
    <p:extLst>
      <p:ext uri="{BB962C8B-B14F-4D97-AF65-F5344CB8AC3E}">
        <p14:creationId xmlns:p14="http://schemas.microsoft.com/office/powerpoint/2010/main" val="1632607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4DE4C3-F28C-4264-9AFC-1A4877EF21EC}"/>
              </a:ext>
            </a:extLst>
          </p:cNvPr>
          <p:cNvSpPr/>
          <p:nvPr/>
        </p:nvSpPr>
        <p:spPr>
          <a:xfrm>
            <a:off x="335494" y="1224576"/>
            <a:ext cx="898222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JSON Example (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employee.json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"employees"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:[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{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"John"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"Doe"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},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{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"Anna"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"Smith"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},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{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"Peter"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"Jones"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}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]}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XML Example (employee.xml)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employees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John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Doe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Anna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Smith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Peter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Jones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/employees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665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JSON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8710762-839A-41F8-84A0-2FFA7B32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79" y="2239411"/>
            <a:ext cx="838644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string { "</a:t>
            </a:r>
            <a:r>
              <a:rPr lang="en-US" sz="2400" dirty="0" err="1"/>
              <a:t>name":"John</a:t>
            </a:r>
            <a:r>
              <a:rPr lang="en-US" sz="2400" dirty="0"/>
              <a:t>" 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number { "age":30 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 object (JSON object) </a:t>
            </a:r>
          </a:p>
          <a:p>
            <a:r>
              <a:rPr lang="en-US" sz="2400" dirty="0"/>
              <a:t>	{</a:t>
            </a:r>
            <a:br>
              <a:rPr lang="en-US" sz="2400" dirty="0"/>
            </a:br>
            <a:r>
              <a:rPr lang="en-US" sz="2400" dirty="0"/>
              <a:t>	"employee":{ "</a:t>
            </a:r>
            <a:r>
              <a:rPr lang="en-US" sz="2400" dirty="0" err="1"/>
              <a:t>name":"John</a:t>
            </a:r>
            <a:r>
              <a:rPr lang="en-US" sz="2400" dirty="0"/>
              <a:t>", "age":30, "</a:t>
            </a:r>
            <a:r>
              <a:rPr lang="en-US" sz="2400" dirty="0" err="1"/>
              <a:t>city":"New</a:t>
            </a:r>
            <a:r>
              <a:rPr lang="en-US" sz="2400" dirty="0"/>
              <a:t> York" }</a:t>
            </a:r>
            <a:br>
              <a:rPr lang="en-US" sz="2400" dirty="0"/>
            </a:br>
            <a:r>
              <a:rPr lang="en-US" sz="2400" dirty="0"/>
              <a:t>	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 array { "employees":[ "John", "Anna", "Peter" ] 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Boolean { "</a:t>
            </a:r>
            <a:r>
              <a:rPr lang="en-US" sz="2400" dirty="0" err="1"/>
              <a:t>sale":true</a:t>
            </a:r>
            <a:r>
              <a:rPr lang="en-US" sz="2400" dirty="0"/>
              <a:t> 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/>
              <a:t>Null </a:t>
            </a:r>
            <a:r>
              <a:rPr lang="en-US" sz="2400" dirty="0"/>
              <a:t>{ "</a:t>
            </a:r>
            <a:r>
              <a:rPr lang="en-US" sz="2400" dirty="0" err="1"/>
              <a:t>middlename</a:t>
            </a:r>
            <a:r>
              <a:rPr lang="en-US" sz="2400" dirty="0"/>
              <a:t>":null }</a:t>
            </a:r>
          </a:p>
        </p:txBody>
      </p:sp>
    </p:spTree>
    <p:extLst>
      <p:ext uri="{BB962C8B-B14F-4D97-AF65-F5344CB8AC3E}">
        <p14:creationId xmlns:p14="http://schemas.microsoft.com/office/powerpoint/2010/main" val="2873804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6EFD9-E447-4175-BD2A-018B19750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PHP JSON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79914-A479-4DE8-8BE0-C887D3459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598222"/>
            <a:ext cx="8574087" cy="4527941"/>
          </a:xfrm>
        </p:spPr>
        <p:txBody>
          <a:bodyPr/>
          <a:lstStyle/>
          <a:p>
            <a:r>
              <a:rPr lang="en-US" dirty="0" err="1"/>
              <a:t>json_encode</a:t>
            </a:r>
            <a:r>
              <a:rPr lang="en-US" dirty="0"/>
              <a:t>()  - The </a:t>
            </a:r>
            <a:r>
              <a:rPr lang="en-US" dirty="0" err="1"/>
              <a:t>json_encode</a:t>
            </a:r>
            <a:r>
              <a:rPr lang="en-US" dirty="0"/>
              <a:t>() function is used to encode a value to JSON format.</a:t>
            </a:r>
          </a:p>
          <a:p>
            <a:r>
              <a:rPr lang="en-US" dirty="0"/>
              <a:t> </a:t>
            </a:r>
            <a:r>
              <a:rPr lang="en-US" dirty="0" err="1"/>
              <a:t>json_decode</a:t>
            </a:r>
            <a:r>
              <a:rPr lang="en-US" dirty="0"/>
              <a:t>() - The </a:t>
            </a:r>
            <a:r>
              <a:rPr lang="en-US" dirty="0" err="1"/>
              <a:t>json_decode</a:t>
            </a:r>
            <a:r>
              <a:rPr lang="en-US" dirty="0"/>
              <a:t>() function is used to decode or convert a JSON object to a PHP object.</a:t>
            </a:r>
          </a:p>
          <a:p>
            <a:r>
              <a:rPr lang="en-US" dirty="0" err="1"/>
              <a:t>file_put_contents</a:t>
            </a:r>
            <a:r>
              <a:rPr lang="en-US" dirty="0"/>
              <a:t>() - The </a:t>
            </a:r>
            <a:r>
              <a:rPr lang="en-US" dirty="0" err="1"/>
              <a:t>file_put_contents</a:t>
            </a:r>
            <a:r>
              <a:rPr lang="en-US" dirty="0"/>
              <a:t>() writes data to a file.</a:t>
            </a:r>
          </a:p>
          <a:p>
            <a:r>
              <a:rPr lang="en-US" dirty="0" err="1"/>
              <a:t>file_get_contents</a:t>
            </a:r>
            <a:r>
              <a:rPr lang="en-US"/>
              <a:t>() </a:t>
            </a:r>
            <a:r>
              <a:rPr lang="en-US" dirty="0"/>
              <a:t>- The </a:t>
            </a:r>
            <a:r>
              <a:rPr lang="en-US" dirty="0" err="1"/>
              <a:t>file_get_contents</a:t>
            </a:r>
            <a:r>
              <a:rPr lang="en-US" dirty="0"/>
              <a:t>() reads a file into a string.</a:t>
            </a:r>
          </a:p>
        </p:txBody>
      </p:sp>
    </p:spTree>
    <p:extLst>
      <p:ext uri="{BB962C8B-B14F-4D97-AF65-F5344CB8AC3E}">
        <p14:creationId xmlns:p14="http://schemas.microsoft.com/office/powerpoint/2010/main" val="1003253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1DB4E9-88E7-4CA3-876F-C6F40DCBD06C}"/>
              </a:ext>
            </a:extLst>
          </p:cNvPr>
          <p:cNvSpPr/>
          <p:nvPr/>
        </p:nvSpPr>
        <p:spPr>
          <a:xfrm>
            <a:off x="335495" y="1225263"/>
            <a:ext cx="896325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//</a:t>
            </a:r>
            <a:r>
              <a:rPr lang="en-US" sz="1600" dirty="0" err="1"/>
              <a:t>myform.php</a:t>
            </a:r>
            <a:endParaRPr lang="en-US" sz="1600" dirty="0"/>
          </a:p>
          <a:p>
            <a:r>
              <a:rPr lang="en-US" sz="1600" dirty="0"/>
              <a:t>&lt;?php include “control/</a:t>
            </a:r>
            <a:r>
              <a:rPr lang="en-US" sz="1600" dirty="0" err="1"/>
              <a:t>process.php</a:t>
            </a:r>
            <a:r>
              <a:rPr lang="en-US" sz="1600"/>
              <a:t>”; ?&gt;</a:t>
            </a:r>
            <a:endParaRPr lang="en-US" sz="1600" dirty="0"/>
          </a:p>
          <a:p>
            <a:r>
              <a:rPr lang="en-US" sz="1600" dirty="0"/>
              <a:t>&lt;!DOCTYPE html&gt;</a:t>
            </a:r>
          </a:p>
          <a:p>
            <a:r>
              <a:rPr lang="en-US" sz="1600" dirty="0"/>
              <a:t>&lt;html&gt;</a:t>
            </a:r>
          </a:p>
          <a:p>
            <a:r>
              <a:rPr lang="en-US" sz="1600" dirty="0"/>
              <a:t>&lt;body&gt;</a:t>
            </a:r>
          </a:p>
          <a:p>
            <a:r>
              <a:rPr lang="en-US" sz="1600" dirty="0"/>
              <a:t>&lt;form action="" method="POST"&gt;</a:t>
            </a:r>
          </a:p>
          <a:p>
            <a:r>
              <a:rPr lang="en-US" sz="1600" dirty="0"/>
              <a:t>    First name:&lt;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    &lt;input type="text" name="</a:t>
            </a:r>
            <a:r>
              <a:rPr lang="en-US" sz="1600" dirty="0" err="1"/>
              <a:t>firstName</a:t>
            </a:r>
            <a:r>
              <a:rPr lang="en-US" sz="1600" dirty="0"/>
              <a:t>"&gt;</a:t>
            </a:r>
          </a:p>
          <a:p>
            <a:r>
              <a:rPr lang="en-US" sz="1600" dirty="0"/>
              <a:t>    &lt;</a:t>
            </a:r>
            <a:r>
              <a:rPr lang="en-US" sz="1600" dirty="0" err="1"/>
              <a:t>br</a:t>
            </a:r>
            <a:r>
              <a:rPr lang="en-US" sz="1600" dirty="0"/>
              <a:t>&gt;&lt;</a:t>
            </a:r>
            <a:r>
              <a:rPr lang="en-US" sz="1600" dirty="0" err="1"/>
              <a:t>br</a:t>
            </a:r>
            <a:r>
              <a:rPr lang="en-US" sz="1600" dirty="0"/>
              <a:t>/&gt;</a:t>
            </a:r>
          </a:p>
          <a:p>
            <a:r>
              <a:rPr lang="en-US" sz="1600" dirty="0"/>
              <a:t>    Last name:&lt;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    &lt;input type="text" name="</a:t>
            </a:r>
            <a:r>
              <a:rPr lang="en-US" sz="1600" dirty="0" err="1"/>
              <a:t>lastName</a:t>
            </a:r>
            <a:r>
              <a:rPr lang="en-US" sz="1600" dirty="0"/>
              <a:t>"&gt;</a:t>
            </a:r>
          </a:p>
          <a:p>
            <a:r>
              <a:rPr lang="en-US" sz="1600" dirty="0"/>
              <a:t>    &lt;</a:t>
            </a:r>
            <a:r>
              <a:rPr lang="en-US" sz="1600" dirty="0" err="1"/>
              <a:t>br</a:t>
            </a:r>
            <a:r>
              <a:rPr lang="en-US" sz="1600" dirty="0"/>
              <a:t>&gt;&lt;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      </a:t>
            </a:r>
          </a:p>
          <a:p>
            <a:r>
              <a:rPr lang="en-US" sz="1600" dirty="0"/>
              <a:t>    Email:&lt;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    &lt;input type="text" name="email"&gt;</a:t>
            </a:r>
          </a:p>
          <a:p>
            <a:r>
              <a:rPr lang="en-US" sz="1600" dirty="0"/>
              <a:t>    &lt;</a:t>
            </a:r>
            <a:r>
              <a:rPr lang="en-US" sz="1600" dirty="0" err="1"/>
              <a:t>br</a:t>
            </a:r>
            <a:r>
              <a:rPr lang="en-US" sz="1600" dirty="0"/>
              <a:t>&gt;&lt;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      </a:t>
            </a:r>
          </a:p>
          <a:p>
            <a:r>
              <a:rPr lang="en-US" sz="1600" dirty="0"/>
              <a:t>    Mobile:&lt;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    &lt;input type="text" name="mobile"&gt;</a:t>
            </a:r>
          </a:p>
          <a:p>
            <a:r>
              <a:rPr lang="en-US" sz="1600" dirty="0"/>
              <a:t>    &lt;</a:t>
            </a:r>
            <a:r>
              <a:rPr lang="en-US" sz="1600" dirty="0" err="1"/>
              <a:t>br</a:t>
            </a:r>
            <a:r>
              <a:rPr lang="en-US" sz="1600" dirty="0"/>
              <a:t>&gt;&lt;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    &lt;input type="submit" value="Submit"&gt;</a:t>
            </a:r>
          </a:p>
          <a:p>
            <a:r>
              <a:rPr lang="en-US" sz="1600" dirty="0"/>
              <a:t>&lt;/form&gt;</a:t>
            </a:r>
          </a:p>
          <a:p>
            <a:r>
              <a:rPr lang="en-US" sz="1600" dirty="0"/>
              <a:t>&lt;/body&gt;</a:t>
            </a:r>
          </a:p>
          <a:p>
            <a:r>
              <a:rPr lang="en-US" sz="1600" dirty="0"/>
              <a:t>&lt;/html&gt;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49084F2-9200-48AC-98E4-A5BCB4CCC366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JSON Write Example</a:t>
            </a:r>
          </a:p>
        </p:txBody>
      </p:sp>
    </p:spTree>
    <p:extLst>
      <p:ext uri="{BB962C8B-B14F-4D97-AF65-F5344CB8AC3E}">
        <p14:creationId xmlns:p14="http://schemas.microsoft.com/office/powerpoint/2010/main" val="666598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EF7197B-1499-4D8D-81A4-0D24EB002E2F}"/>
              </a:ext>
            </a:extLst>
          </p:cNvPr>
          <p:cNvSpPr txBox="1">
            <a:spLocks/>
          </p:cNvSpPr>
          <p:nvPr/>
        </p:nvSpPr>
        <p:spPr>
          <a:xfrm>
            <a:off x="335494" y="484455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JSON Write Example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F5DD8B-3C0C-4833-AC7A-60B4CBC42795}"/>
              </a:ext>
            </a:extLst>
          </p:cNvPr>
          <p:cNvSpPr/>
          <p:nvPr/>
        </p:nvSpPr>
        <p:spPr>
          <a:xfrm>
            <a:off x="335494" y="944539"/>
            <a:ext cx="82225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process.php</a:t>
            </a:r>
            <a:endParaRPr lang="en-US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&lt;?php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//Get form data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$</a:t>
            </a:r>
            <a:r>
              <a:rPr lang="en-US" dirty="0" err="1">
                <a:latin typeface="Consolas" panose="020B0609020204030204" pitchFamily="49" charset="0"/>
              </a:rPr>
              <a:t>formdata</a:t>
            </a:r>
            <a:r>
              <a:rPr lang="en-US" dirty="0">
                <a:latin typeface="Consolas" panose="020B0609020204030204" pitchFamily="49" charset="0"/>
              </a:rPr>
              <a:t> = array(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  '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'=&gt; $_POST['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'],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  '</a:t>
            </a:r>
            <a:r>
              <a:rPr lang="en-US" dirty="0" err="1">
                <a:latin typeface="Consolas" panose="020B0609020204030204" pitchFamily="49" charset="0"/>
              </a:rPr>
              <a:t>lastName</a:t>
            </a:r>
            <a:r>
              <a:rPr lang="en-US" dirty="0">
                <a:latin typeface="Consolas" panose="020B0609020204030204" pitchFamily="49" charset="0"/>
              </a:rPr>
              <a:t>'=&gt; $_POST['</a:t>
            </a:r>
            <a:r>
              <a:rPr lang="en-US" dirty="0" err="1">
                <a:latin typeface="Consolas" panose="020B0609020204030204" pitchFamily="49" charset="0"/>
              </a:rPr>
              <a:t>lastName</a:t>
            </a:r>
            <a:r>
              <a:rPr lang="en-US" dirty="0">
                <a:latin typeface="Consolas" panose="020B0609020204030204" pitchFamily="49" charset="0"/>
              </a:rPr>
              <a:t>'],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  'email'=&gt;$_POST['email'],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  'mobile'=&gt; $_POST['mobile']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);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//Convert  array to JSON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$</a:t>
            </a:r>
            <a:r>
              <a:rPr lang="en-US" dirty="0" err="1">
                <a:latin typeface="Consolas" panose="020B0609020204030204" pitchFamily="49" charset="0"/>
              </a:rPr>
              <a:t>jsondata</a:t>
            </a:r>
            <a:r>
              <a:rPr lang="en-US" dirty="0">
                <a:latin typeface="Consolas" panose="020B0609020204030204" pitchFamily="49" charset="0"/>
              </a:rPr>
              <a:t> = </a:t>
            </a:r>
            <a:r>
              <a:rPr lang="en-US" dirty="0" err="1">
                <a:latin typeface="Consolas" panose="020B0609020204030204" pitchFamily="49" charset="0"/>
              </a:rPr>
              <a:t>json_encode</a:t>
            </a:r>
            <a:r>
              <a:rPr lang="en-US" dirty="0">
                <a:latin typeface="Consolas" panose="020B0609020204030204" pitchFamily="49" charset="0"/>
              </a:rPr>
              <a:t>($</a:t>
            </a:r>
            <a:r>
              <a:rPr lang="en-US" dirty="0" err="1">
                <a:latin typeface="Consolas" panose="020B0609020204030204" pitchFamily="49" charset="0"/>
              </a:rPr>
              <a:t>formdata</a:t>
            </a:r>
            <a:r>
              <a:rPr lang="en-US" dirty="0">
                <a:latin typeface="Consolas" panose="020B0609020204030204" pitchFamily="49" charset="0"/>
              </a:rPr>
              <a:t>, JSON_PRETTY_PRINT);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//write json data into </a:t>
            </a:r>
            <a:r>
              <a:rPr lang="en-US" dirty="0" err="1">
                <a:latin typeface="Consolas" panose="020B0609020204030204" pitchFamily="49" charset="0"/>
              </a:rPr>
              <a:t>data.json</a:t>
            </a:r>
            <a:r>
              <a:rPr lang="en-US" dirty="0">
                <a:latin typeface="Consolas" panose="020B0609020204030204" pitchFamily="49" charset="0"/>
              </a:rPr>
              <a:t> file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if(</a:t>
            </a:r>
            <a:r>
              <a:rPr lang="en-US" dirty="0" err="1">
                <a:latin typeface="Consolas" panose="020B0609020204030204" pitchFamily="49" charset="0"/>
              </a:rPr>
              <a:t>file_put_contents</a:t>
            </a:r>
            <a:r>
              <a:rPr lang="en-US" dirty="0">
                <a:latin typeface="Consolas" panose="020B0609020204030204" pitchFamily="49" charset="0"/>
              </a:rPr>
              <a:t>("</a:t>
            </a:r>
            <a:r>
              <a:rPr lang="en-US" dirty="0" err="1">
                <a:latin typeface="Consolas" panose="020B0609020204030204" pitchFamily="49" charset="0"/>
              </a:rPr>
              <a:t>data.json</a:t>
            </a:r>
            <a:r>
              <a:rPr lang="en-US" dirty="0">
                <a:latin typeface="Consolas" panose="020B0609020204030204" pitchFamily="49" charset="0"/>
              </a:rPr>
              <a:t>", $</a:t>
            </a:r>
            <a:r>
              <a:rPr lang="en-US" dirty="0" err="1">
                <a:latin typeface="Consolas" panose="020B0609020204030204" pitchFamily="49" charset="0"/>
              </a:rPr>
              <a:t>jsondata</a:t>
            </a:r>
            <a:r>
              <a:rPr lang="en-US" dirty="0">
                <a:latin typeface="Consolas" panose="020B0609020204030204" pitchFamily="49" charset="0"/>
              </a:rPr>
              <a:t>)) {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    echo 'Data successfully saved';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}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else 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    echo "no data saved";</a:t>
            </a:r>
            <a:br>
              <a:rPr lang="en-US" dirty="0">
                <a:latin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?&gt;</a:t>
            </a:r>
            <a:endParaRPr lang="en-US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029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9FF80B-D902-4771-83A6-C4EBC2FB65CF}"/>
              </a:ext>
            </a:extLst>
          </p:cNvPr>
          <p:cNvSpPr/>
          <p:nvPr/>
        </p:nvSpPr>
        <p:spPr>
          <a:xfrm>
            <a:off x="583810" y="1835559"/>
            <a:ext cx="75895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   $</a:t>
            </a:r>
            <a:r>
              <a:rPr lang="en-US" dirty="0" err="1">
                <a:latin typeface="Consolas" panose="020B0609020204030204" pitchFamily="49" charset="0"/>
              </a:rPr>
              <a:t>str_data</a:t>
            </a:r>
            <a:r>
              <a:rPr lang="en-US" dirty="0">
                <a:latin typeface="Consolas" panose="020B0609020204030204" pitchFamily="49" charset="0"/>
              </a:rPr>
              <a:t> = </a:t>
            </a:r>
            <a:r>
              <a:rPr lang="en-US" dirty="0" err="1">
                <a:latin typeface="Consolas" panose="020B0609020204030204" pitchFamily="49" charset="0"/>
              </a:rPr>
              <a:t>file_get_contents</a:t>
            </a:r>
            <a:r>
              <a:rPr lang="en-US" dirty="0">
                <a:latin typeface="Consolas" panose="020B0609020204030204" pitchFamily="49" charset="0"/>
              </a:rPr>
              <a:t>("</a:t>
            </a:r>
            <a:r>
              <a:rPr lang="en-US" dirty="0" err="1">
                <a:latin typeface="Consolas" panose="020B0609020204030204" pitchFamily="49" charset="0"/>
              </a:rPr>
              <a:t>data.json</a:t>
            </a:r>
            <a:r>
              <a:rPr lang="en-US" dirty="0">
                <a:latin typeface="Consolas" panose="020B0609020204030204" pitchFamily="49" charset="0"/>
              </a:rPr>
              <a:t>");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    $data = </a:t>
            </a:r>
            <a:r>
              <a:rPr lang="en-US" dirty="0" err="1">
                <a:latin typeface="Consolas" panose="020B0609020204030204" pitchFamily="49" charset="0"/>
              </a:rPr>
              <a:t>json_decode</a:t>
            </a:r>
            <a:r>
              <a:rPr lang="en-US" dirty="0">
                <a:latin typeface="Consolas" panose="020B0609020204030204" pitchFamily="49" charset="0"/>
              </a:rPr>
              <a:t>($</a:t>
            </a:r>
            <a:r>
              <a:rPr lang="en-US" dirty="0" err="1">
                <a:latin typeface="Consolas" panose="020B0609020204030204" pitchFamily="49" charset="0"/>
              </a:rPr>
              <a:t>str_data,true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    foreach($data as $</a:t>
            </a:r>
            <a:r>
              <a:rPr lang="en-US" dirty="0" err="1">
                <a:latin typeface="Consolas" panose="020B0609020204030204" pitchFamily="49" charset="0"/>
              </a:rPr>
              <a:t>mydata</a:t>
            </a:r>
            <a:r>
              <a:rPr lang="en-US" dirty="0">
                <a:latin typeface="Consolas" panose="020B0609020204030204" pitchFamily="49" charset="0"/>
              </a:rPr>
              <a:t>){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    foreach($</a:t>
            </a:r>
            <a:r>
              <a:rPr lang="en-US" dirty="0" err="1">
                <a:latin typeface="Consolas" panose="020B0609020204030204" pitchFamily="49" charset="0"/>
              </a:rPr>
              <a:t>mydata</a:t>
            </a:r>
            <a:r>
              <a:rPr lang="en-US" dirty="0">
                <a:latin typeface="Consolas" panose="020B0609020204030204" pitchFamily="49" charset="0"/>
              </a:rPr>
              <a:t> as $key=&gt;$value)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    {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        echo $key . " is " . $value . "&lt;</a:t>
            </a:r>
            <a:r>
              <a:rPr lang="en-US" dirty="0" err="1">
                <a:latin typeface="Consolas" panose="020B0609020204030204" pitchFamily="49" charset="0"/>
              </a:rPr>
              <a:t>br</a:t>
            </a:r>
            <a:r>
              <a:rPr lang="en-US" dirty="0">
                <a:latin typeface="Consolas" panose="020B0609020204030204" pitchFamily="49" charset="0"/>
              </a:rPr>
              <a:t>&gt;";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    }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}</a:t>
            </a:r>
          </a:p>
          <a:p>
            <a:r>
              <a:rPr lang="en-US" dirty="0">
                <a:latin typeface="Consolas" panose="020B0609020204030204" pitchFamily="49" charset="0"/>
              </a:rPr>
              <a:t>    //or</a:t>
            </a:r>
          </a:p>
          <a:p>
            <a:r>
              <a:rPr lang="en-US" dirty="0">
                <a:latin typeface="Consolas" panose="020B0609020204030204" pitchFamily="49" charset="0"/>
              </a:rPr>
              <a:t>         </a:t>
            </a:r>
            <a:r>
              <a:rPr lang="en-US" dirty="0" err="1">
                <a:latin typeface="Consolas" panose="020B0609020204030204" pitchFamily="49" charset="0"/>
              </a:rPr>
              <a:t>var_dump</a:t>
            </a:r>
            <a:r>
              <a:rPr lang="en-US" dirty="0">
                <a:latin typeface="Consolas" panose="020B0609020204030204" pitchFamily="49" charset="0"/>
              </a:rPr>
              <a:t>( $data );</a:t>
            </a:r>
          </a:p>
          <a:p>
            <a:endParaRPr lang="en-US" b="0" dirty="0">
              <a:effectLst/>
              <a:latin typeface="Consolas" panose="020B0609020204030204" pitchFamily="49" charset="0"/>
            </a:endParaRPr>
          </a:p>
          <a:p>
            <a:endParaRPr lang="en-US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7771E-3E5A-4774-8608-B464D083B4FA}"/>
              </a:ext>
            </a:extLst>
          </p:cNvPr>
          <p:cNvSpPr txBox="1">
            <a:spLocks/>
          </p:cNvSpPr>
          <p:nvPr/>
        </p:nvSpPr>
        <p:spPr>
          <a:xfrm>
            <a:off x="335494" y="62513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JSON Read Example</a:t>
            </a:r>
          </a:p>
        </p:txBody>
      </p:sp>
    </p:spTree>
    <p:extLst>
      <p:ext uri="{BB962C8B-B14F-4D97-AF65-F5344CB8AC3E}">
        <p14:creationId xmlns:p14="http://schemas.microsoft.com/office/powerpoint/2010/main" val="3845508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496388" y="1415086"/>
            <a:ext cx="81773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W3Schools Online Web Tutorials; URL: </a:t>
            </a:r>
            <a:r>
              <a:rPr lang="en-US" sz="2000" b="1" u="sng" dirty="0">
                <a:hlinkClick r:id="rId2"/>
              </a:rPr>
              <a:t>http://www.w3schools.com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Documentation; URL: </a:t>
            </a:r>
            <a:r>
              <a:rPr lang="en-US" sz="2000" b="1" u="sng" dirty="0">
                <a:hlinkClick r:id="rId3"/>
              </a:rPr>
              <a:t>http://www.php.net/docs.php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/>
              <a:t>Sams</a:t>
            </a:r>
            <a:r>
              <a:rPr lang="en-US" sz="2000" b="1" dirty="0"/>
              <a:t> Teach Yourself Ajax JavaScript and PHP All in One; Phil Ballard and Michael </a:t>
            </a:r>
            <a:r>
              <a:rPr lang="en-US" sz="2000" b="1" dirty="0" err="1"/>
              <a:t>Moncur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2010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Phrasebook; Christian </a:t>
            </a:r>
            <a:r>
              <a:rPr lang="en-US" sz="2000" b="1" dirty="0" err="1"/>
              <a:t>Wenz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2007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and MySQL Web Development, 4/E; Luke Welling and Laura Thomson; Addison-Wesley Professional;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for Programmers Paul J. </a:t>
            </a:r>
            <a:r>
              <a:rPr lang="en-US" sz="2000" b="1" dirty="0" err="1"/>
              <a:t>Deitel</a:t>
            </a:r>
            <a:r>
              <a:rPr lang="en-US" sz="2000" b="1" dirty="0"/>
              <a:t> and Harvey M. </a:t>
            </a:r>
            <a:r>
              <a:rPr lang="en-US" sz="2000" b="1" dirty="0" err="1"/>
              <a:t>Deitel</a:t>
            </a:r>
            <a:r>
              <a:rPr lang="en-US" sz="2000" b="1" dirty="0"/>
              <a:t>; Prentice Hall;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Beginning PHP5, Apache, and MySQL Web Development; Elizabeth </a:t>
            </a:r>
            <a:r>
              <a:rPr lang="en-US" sz="2000" b="1" dirty="0" err="1"/>
              <a:t>Naramore</a:t>
            </a:r>
            <a:r>
              <a:rPr lang="en-US" sz="2000" b="1" dirty="0"/>
              <a:t>, Jason </a:t>
            </a:r>
            <a:r>
              <a:rPr lang="en-US" sz="2000" b="1" dirty="0" err="1"/>
              <a:t>Gerner</a:t>
            </a:r>
            <a:r>
              <a:rPr lang="en-US" sz="2000" b="1" dirty="0"/>
              <a:t>, </a:t>
            </a:r>
            <a:r>
              <a:rPr lang="en-US" sz="2000" b="1" dirty="0" err="1"/>
              <a:t>Yann</a:t>
            </a:r>
            <a:r>
              <a:rPr lang="en-US" sz="2000" b="1" dirty="0"/>
              <a:t> Le </a:t>
            </a:r>
            <a:r>
              <a:rPr lang="en-US" sz="2000" b="1" dirty="0" err="1"/>
              <a:t>Scouarnec</a:t>
            </a:r>
            <a:r>
              <a:rPr lang="en-US" sz="2000" b="1" dirty="0"/>
              <a:t>, Jeremy </a:t>
            </a:r>
            <a:r>
              <a:rPr lang="en-US" sz="2000" b="1" dirty="0" err="1"/>
              <a:t>Stolz</a:t>
            </a:r>
            <a:r>
              <a:rPr lang="en-US" sz="2000" b="1" dirty="0"/>
              <a:t> and Michael K. Glass; Wiley Publishing; 2005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XML in a Nutshell, 3/E; </a:t>
            </a:r>
            <a:r>
              <a:rPr lang="en-US" sz="2000" b="1" dirty="0" err="1"/>
              <a:t>Elliotte</a:t>
            </a:r>
            <a:r>
              <a:rPr lang="en-US" sz="2000" b="1" dirty="0"/>
              <a:t> Rusty Harold and W. Scott Means; O'Reilly Media; 2004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77201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2"/>
              </a:rPr>
              <a:t>http://www.kodecrash.com/javascript/read-write-json-file-using-php/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3"/>
              </a:rPr>
              <a:t>https://gist.github.com/recked/7329961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4"/>
              </a:rPr>
              <a:t>https://www.kodingmadesimple.com/2016/05/how-to-write-json-to-file-in-php.html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5"/>
              </a:rPr>
              <a:t>https://code.tutsplus.com/tutorials/how-to-upload-a-file-in-php-with-example--cms-31763</a:t>
            </a:r>
            <a:br>
              <a:rPr 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c9eb58d-2f4c-499b-ab9c-47c1d5de8bf8">
      <Terms xmlns="http://schemas.microsoft.com/office/infopath/2007/PartnerControls"/>
    </lcf76f155ced4ddcb4097134ff3c332f>
    <TaxCatchAll xmlns="9f673192-3ebd-46cf-81e4-b0fc52a2734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30A8883D509741AAD9698FAF47E5F3" ma:contentTypeVersion="10" ma:contentTypeDescription="Create a new document." ma:contentTypeScope="" ma:versionID="c452bade75c4a139881745e6b3928d9d">
  <xsd:schema xmlns:xsd="http://www.w3.org/2001/XMLSchema" xmlns:xs="http://www.w3.org/2001/XMLSchema" xmlns:p="http://schemas.microsoft.com/office/2006/metadata/properties" xmlns:ns2="9c9eb58d-2f4c-499b-ab9c-47c1d5de8bf8" xmlns:ns3="9f673192-3ebd-46cf-81e4-b0fc52a2734b" targetNamespace="http://schemas.microsoft.com/office/2006/metadata/properties" ma:root="true" ma:fieldsID="c99523fcd5cdfb57a878fa4642ebcaab" ns2:_="" ns3:_="">
    <xsd:import namespace="9c9eb58d-2f4c-499b-ab9c-47c1d5de8bf8"/>
    <xsd:import namespace="9f673192-3ebd-46cf-81e4-b0fc52a273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9eb58d-2f4c-499b-ab9c-47c1d5de8b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c387e96-56ce-4293-9bf0-c5d3fd96f7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73192-3ebd-46cf-81e4-b0fc52a2734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b385ea9-3b36-4211-9a59-10b20b95d2ff}" ma:internalName="TaxCatchAll" ma:showField="CatchAllData" ma:web="9f673192-3ebd-46cf-81e4-b0fc52a273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D8E56D-9994-4068-8387-DC732E7C5DFC}">
  <ds:schemaRefs>
    <ds:schemaRef ds:uri="http://schemas.microsoft.com/office/2006/metadata/properties"/>
    <ds:schemaRef ds:uri="http://schemas.microsoft.com/office/infopath/2007/PartnerControls"/>
    <ds:schemaRef ds:uri="9c9eb58d-2f4c-499b-ab9c-47c1d5de8bf8"/>
    <ds:schemaRef ds:uri="9f673192-3ebd-46cf-81e4-b0fc52a2734b"/>
  </ds:schemaRefs>
</ds:datastoreItem>
</file>

<file path=customXml/itemProps2.xml><?xml version="1.0" encoding="utf-8"?>
<ds:datastoreItem xmlns:ds="http://schemas.openxmlformats.org/officeDocument/2006/customXml" ds:itemID="{E49612A8-CDC9-4147-8006-43887192AF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1827D5-362B-44A9-91E8-09624FE06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9eb58d-2f4c-499b-ab9c-47c1d5de8bf8"/>
    <ds:schemaRef ds:uri="9f673192-3ebd-46cf-81e4-b0fc52a273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1908</TotalTime>
  <Words>2312</Words>
  <Application>Microsoft Office PowerPoint</Application>
  <PresentationFormat>On-screen Show (4:3)</PresentationFormat>
  <Paragraphs>182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Spectrum</vt:lpstr>
      <vt:lpstr>Data Access using PHP</vt:lpstr>
      <vt:lpstr>Data Access using PHP</vt:lpstr>
      <vt:lpstr>Learning outcome </vt:lpstr>
      <vt:lpstr>Data Access using PHP</vt:lpstr>
      <vt:lpstr>Data Access using PHP</vt:lpstr>
      <vt:lpstr>PowerPoint Presentation</vt:lpstr>
      <vt:lpstr>PowerPoint Presentation</vt:lpstr>
      <vt:lpstr>Data Access using PHP</vt:lpstr>
      <vt:lpstr>PowerPoint Presentation</vt:lpstr>
      <vt:lpstr>JSON</vt:lpstr>
      <vt:lpstr>JSON vs XML</vt:lpstr>
      <vt:lpstr>PowerPoint Presentation</vt:lpstr>
      <vt:lpstr>JSON Data Types</vt:lpstr>
      <vt:lpstr>PHP JSON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MUSTAK UN NOBI</cp:lastModifiedBy>
  <cp:revision>142</cp:revision>
  <dcterms:created xsi:type="dcterms:W3CDTF">2018-12-10T17:20:29Z</dcterms:created>
  <dcterms:modified xsi:type="dcterms:W3CDTF">2026-01-07T02:57:09Z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0x0101000130A8883D509741AAD9698FAF47E5F3</vt:lpwstr>
  </property>
  <property fmtid="{D5CDD505-2E9C-101B-9397-08002B2CF9AE}" pid="3" name="MediaServiceImageTags">
    <vt:lpwstr/>
  </property>
</Properties>
</file>