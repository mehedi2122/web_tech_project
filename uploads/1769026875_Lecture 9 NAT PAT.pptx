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3.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revisionInfo.xml" ContentType="application/vnd.ms-powerpoint.revisioninfo+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257" r:id="rId3"/>
    <p:sldId id="280" r:id="rId4"/>
    <p:sldId id="281" r:id="rId5"/>
    <p:sldId id="282" r:id="rId6"/>
    <p:sldId id="283" r:id="rId7"/>
    <p:sldId id="284" r:id="rId8"/>
    <p:sldId id="285" r:id="rId9"/>
    <p:sldId id="286" r:id="rId10"/>
    <p:sldId id="287" r:id="rId11"/>
    <p:sldId id="288" r:id="rId12"/>
    <p:sldId id="289" r:id="rId13"/>
    <p:sldId id="290" r:id="rId14"/>
    <p:sldId id="296" r:id="rId15"/>
    <p:sldId id="291" r:id="rId16"/>
    <p:sldId id="292" r:id="rId17"/>
    <p:sldId id="293" r:id="rId18"/>
    <p:sldId id="294" r:id="rId19"/>
    <p:sldId id="295" r:id="rId20"/>
    <p:sldId id="265" r:id="rId21"/>
    <p:sldId id="264"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81" d="100"/>
          <a:sy n="81" d="100"/>
        </p:scale>
        <p:origin x="1498"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 Id="rId30"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4C0043-86B6-4995-AFCF-75742B2971FC}" type="datetimeFigureOut">
              <a:rPr lang="en-US" smtClean="0"/>
              <a:t>11/8/2022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F089EB-434E-4CCF-A285-C485F66DE1D3}" type="slidenum">
              <a:rPr lang="en-US" smtClean="0"/>
              <a:t>‹#›</a:t>
            </a:fld>
            <a:endParaRPr lang="en-US"/>
          </a:p>
        </p:txBody>
      </p:sp>
    </p:spTree>
    <p:extLst>
      <p:ext uri="{BB962C8B-B14F-4D97-AF65-F5344CB8AC3E}">
        <p14:creationId xmlns:p14="http://schemas.microsoft.com/office/powerpoint/2010/main" val="52353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3</a:t>
            </a:fld>
            <a:endParaRPr lang="en-US"/>
          </a:p>
        </p:txBody>
      </p:sp>
    </p:spTree>
    <p:extLst>
      <p:ext uri="{BB962C8B-B14F-4D97-AF65-F5344CB8AC3E}">
        <p14:creationId xmlns:p14="http://schemas.microsoft.com/office/powerpoint/2010/main" val="9851994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4</a:t>
            </a:fld>
            <a:endParaRPr lang="en-US"/>
          </a:p>
        </p:txBody>
      </p:sp>
    </p:spTree>
    <p:extLst>
      <p:ext uri="{BB962C8B-B14F-4D97-AF65-F5344CB8AC3E}">
        <p14:creationId xmlns:p14="http://schemas.microsoft.com/office/powerpoint/2010/main" val="2942005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5</a:t>
            </a:fld>
            <a:endParaRPr lang="en-US"/>
          </a:p>
        </p:txBody>
      </p:sp>
    </p:spTree>
    <p:extLst>
      <p:ext uri="{BB962C8B-B14F-4D97-AF65-F5344CB8AC3E}">
        <p14:creationId xmlns:p14="http://schemas.microsoft.com/office/powerpoint/2010/main" val="811521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6</a:t>
            </a:fld>
            <a:endParaRPr lang="en-US"/>
          </a:p>
        </p:txBody>
      </p:sp>
    </p:spTree>
    <p:extLst>
      <p:ext uri="{BB962C8B-B14F-4D97-AF65-F5344CB8AC3E}">
        <p14:creationId xmlns:p14="http://schemas.microsoft.com/office/powerpoint/2010/main" val="25993956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7</a:t>
            </a:fld>
            <a:endParaRPr lang="en-US"/>
          </a:p>
        </p:txBody>
      </p:sp>
    </p:spTree>
    <p:extLst>
      <p:ext uri="{BB962C8B-B14F-4D97-AF65-F5344CB8AC3E}">
        <p14:creationId xmlns:p14="http://schemas.microsoft.com/office/powerpoint/2010/main" val="25477930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8</a:t>
            </a:fld>
            <a:endParaRPr lang="en-US"/>
          </a:p>
        </p:txBody>
      </p:sp>
    </p:spTree>
    <p:extLst>
      <p:ext uri="{BB962C8B-B14F-4D97-AF65-F5344CB8AC3E}">
        <p14:creationId xmlns:p14="http://schemas.microsoft.com/office/powerpoint/2010/main" val="27966935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9</a:t>
            </a:fld>
            <a:endParaRPr lang="en-US"/>
          </a:p>
        </p:txBody>
      </p:sp>
    </p:spTree>
    <p:extLst>
      <p:ext uri="{BB962C8B-B14F-4D97-AF65-F5344CB8AC3E}">
        <p14:creationId xmlns:p14="http://schemas.microsoft.com/office/powerpoint/2010/main" val="3391413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10</a:t>
            </a:fld>
            <a:endParaRPr lang="en-US"/>
          </a:p>
        </p:txBody>
      </p:sp>
    </p:spTree>
    <p:extLst>
      <p:ext uri="{BB962C8B-B14F-4D97-AF65-F5344CB8AC3E}">
        <p14:creationId xmlns:p14="http://schemas.microsoft.com/office/powerpoint/2010/main" val="15316983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11</a:t>
            </a:fld>
            <a:endParaRPr lang="en-US"/>
          </a:p>
        </p:txBody>
      </p:sp>
    </p:spTree>
    <p:extLst>
      <p:ext uri="{BB962C8B-B14F-4D97-AF65-F5344CB8AC3E}">
        <p14:creationId xmlns:p14="http://schemas.microsoft.com/office/powerpoint/2010/main" val="7555012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12</a:t>
            </a:fld>
            <a:endParaRPr lang="en-US"/>
          </a:p>
        </p:txBody>
      </p:sp>
    </p:spTree>
    <p:extLst>
      <p:ext uri="{BB962C8B-B14F-4D97-AF65-F5344CB8AC3E}">
        <p14:creationId xmlns:p14="http://schemas.microsoft.com/office/powerpoint/2010/main" val="38534828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13</a:t>
            </a:fld>
            <a:endParaRPr lang="en-US"/>
          </a:p>
        </p:txBody>
      </p:sp>
    </p:spTree>
    <p:extLst>
      <p:ext uri="{BB962C8B-B14F-4D97-AF65-F5344CB8AC3E}">
        <p14:creationId xmlns:p14="http://schemas.microsoft.com/office/powerpoint/2010/main" val="37454973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15</a:t>
            </a:fld>
            <a:endParaRPr lang="en-US"/>
          </a:p>
        </p:txBody>
      </p:sp>
    </p:spTree>
    <p:extLst>
      <p:ext uri="{BB962C8B-B14F-4D97-AF65-F5344CB8AC3E}">
        <p14:creationId xmlns:p14="http://schemas.microsoft.com/office/powerpoint/2010/main" val="33676270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16</a:t>
            </a:fld>
            <a:endParaRPr lang="en-US"/>
          </a:p>
        </p:txBody>
      </p:sp>
    </p:spTree>
    <p:extLst>
      <p:ext uri="{BB962C8B-B14F-4D97-AF65-F5344CB8AC3E}">
        <p14:creationId xmlns:p14="http://schemas.microsoft.com/office/powerpoint/2010/main" val="36318800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17</a:t>
            </a:fld>
            <a:endParaRPr lang="en-US"/>
          </a:p>
        </p:txBody>
      </p:sp>
    </p:spTree>
    <p:extLst>
      <p:ext uri="{BB962C8B-B14F-4D97-AF65-F5344CB8AC3E}">
        <p14:creationId xmlns:p14="http://schemas.microsoft.com/office/powerpoint/2010/main" val="42086411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18</a:t>
            </a:fld>
            <a:endParaRPr lang="en-US"/>
          </a:p>
        </p:txBody>
      </p:sp>
    </p:spTree>
    <p:extLst>
      <p:ext uri="{BB962C8B-B14F-4D97-AF65-F5344CB8AC3E}">
        <p14:creationId xmlns:p14="http://schemas.microsoft.com/office/powerpoint/2010/main" val="16314298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F089EB-434E-4CCF-A285-C485F66DE1D3}" type="slidenum">
              <a:rPr lang="en-US" smtClean="0"/>
              <a:t>19</a:t>
            </a:fld>
            <a:endParaRPr lang="en-US"/>
          </a:p>
        </p:txBody>
      </p:sp>
    </p:spTree>
    <p:extLst>
      <p:ext uri="{BB962C8B-B14F-4D97-AF65-F5344CB8AC3E}">
        <p14:creationId xmlns:p14="http://schemas.microsoft.com/office/powerpoint/2010/main" val="16511648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11/8/2022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11/8/2022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11/8/2022</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11/8/2022</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e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wmf"/></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9.w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www.tutorialspoint.com/computer_fundamentals/computer_networking.htm" TargetMode="External"/><Relationship Id="rId2" Type="http://schemas.openxmlformats.org/officeDocument/2006/relationships/hyperlink" Target="https://www.geeksforgeeks.org/basics-computer-networking/" TargetMode="Externa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400" spc="-434" dirty="0"/>
              <a:t>NAT  &amp;  PAT</a:t>
            </a:r>
            <a:endParaRPr lang="en-US" dirty="0"/>
          </a:p>
        </p:txBody>
      </p:sp>
      <p:sp>
        <p:nvSpPr>
          <p:cNvPr id="3" name="Subtitle 2"/>
          <p:cNvSpPr>
            <a:spLocks noGrp="1"/>
          </p:cNvSpPr>
          <p:nvPr>
            <p:ph type="subTitle" idx="1"/>
          </p:nvPr>
        </p:nvSpPr>
        <p:spPr>
          <a:xfrm>
            <a:off x="476205" y="1532427"/>
            <a:ext cx="2789509" cy="484632"/>
          </a:xfrm>
        </p:spPr>
        <p:txBody>
          <a:bodyPr/>
          <a:lstStyle/>
          <a:p>
            <a:r>
              <a:rPr lang="en-US" dirty="0"/>
              <a:t>Course Code: CSC 3116</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Computer Networks</a:t>
            </a:r>
          </a:p>
          <a:p>
            <a:endParaRPr lang="en-US" dirty="0"/>
          </a:p>
        </p:txBody>
      </p:sp>
      <p:graphicFrame>
        <p:nvGraphicFramePr>
          <p:cNvPr id="9" name="Table 8">
            <a:extLst>
              <a:ext uri="{FF2B5EF4-FFF2-40B4-BE49-F238E27FC236}">
                <a16:creationId xmlns:a16="http://schemas.microsoft.com/office/drawing/2014/main" id="{941C6789-2813-4E69-9B74-D239C50C6AE6}"/>
              </a:ext>
            </a:extLst>
          </p:cNvPr>
          <p:cNvGraphicFramePr>
            <a:graphicFrameLocks noGrp="1"/>
          </p:cNvGraphicFramePr>
          <p:nvPr>
            <p:extLst>
              <p:ext uri="{D42A27DB-BD31-4B8C-83A1-F6EECF244321}">
                <p14:modId xmlns:p14="http://schemas.microsoft.com/office/powerpoint/2010/main" val="381376965"/>
              </p:ext>
            </p:extLst>
          </p:nvPr>
        </p:nvGraphicFramePr>
        <p:xfrm>
          <a:off x="476205" y="5186042"/>
          <a:ext cx="8335798" cy="378736"/>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814251">
                  <a:extLst>
                    <a:ext uri="{9D8B030D-6E8A-4147-A177-3AD203B41FA5}">
                      <a16:colId xmlns:a16="http://schemas.microsoft.com/office/drawing/2014/main" val="1762131981"/>
                    </a:ext>
                  </a:extLst>
                </a:gridCol>
                <a:gridCol w="1404257">
                  <a:extLst>
                    <a:ext uri="{9D8B030D-6E8A-4147-A177-3AD203B41FA5}">
                      <a16:colId xmlns:a16="http://schemas.microsoft.com/office/drawing/2014/main" val="445458238"/>
                    </a:ext>
                  </a:extLst>
                </a:gridCol>
                <a:gridCol w="200843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b="0" dirty="0"/>
                        <a:t>9</a:t>
                      </a:r>
                    </a:p>
                  </a:txBody>
                  <a:tcPr/>
                </a:tc>
                <a:tc>
                  <a:txBody>
                    <a:bodyPr/>
                    <a:lstStyle/>
                    <a:p>
                      <a:r>
                        <a:rPr lang="en-US" dirty="0"/>
                        <a:t>Week No:</a:t>
                      </a:r>
                    </a:p>
                  </a:txBody>
                  <a:tcPr/>
                </a:tc>
                <a:tc>
                  <a:txBody>
                    <a:bodyPr/>
                    <a:lstStyle/>
                    <a:p>
                      <a:r>
                        <a:rPr lang="en-US" b="0"/>
                        <a:t>9</a:t>
                      </a:r>
                      <a:endParaRPr lang="en-US" b="0" dirty="0"/>
                    </a:p>
                  </a:txBody>
                  <a:tcPr/>
                </a:tc>
                <a:tc>
                  <a:txBody>
                    <a:bodyPr/>
                    <a:lstStyle/>
                    <a:p>
                      <a:r>
                        <a:rPr lang="en-US" dirty="0"/>
                        <a:t>Semester:</a:t>
                      </a:r>
                    </a:p>
                  </a:txBody>
                  <a:tcPr/>
                </a:tc>
                <a:tc>
                  <a:txBody>
                    <a:bodyPr/>
                    <a:lstStyle/>
                    <a:p>
                      <a:r>
                        <a:rPr lang="en-US" b="0" dirty="0"/>
                        <a:t>Fall2021-22</a:t>
                      </a:r>
                    </a:p>
                  </a:txBody>
                  <a:tcPr/>
                </a:tc>
                <a:extLst>
                  <a:ext uri="{0D108BD9-81ED-4DB2-BD59-A6C34878D82A}">
                    <a16:rowId xmlns:a16="http://schemas.microsoft.com/office/drawing/2014/main" val="2197040212"/>
                  </a:ext>
                </a:extLst>
              </a:tr>
            </a:tbl>
          </a:graphicData>
        </a:graphic>
      </p:graphicFrame>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5" name="TextBox 4"/>
          <p:cNvSpPr txBox="1"/>
          <p:nvPr/>
        </p:nvSpPr>
        <p:spPr>
          <a:xfrm>
            <a:off x="735007" y="2563091"/>
            <a:ext cx="7495310" cy="2585323"/>
          </a:xfrm>
          <a:prstGeom prst="rect">
            <a:avLst/>
          </a:prstGeom>
          <a:noFill/>
        </p:spPr>
        <p:txBody>
          <a:bodyPr wrap="square" rtlCol="0">
            <a:spAutoFit/>
          </a:bodyPr>
          <a:lstStyle/>
          <a:p>
            <a:r>
              <a:rPr lang="en-US" dirty="0"/>
              <a:t>1. Private Network</a:t>
            </a:r>
          </a:p>
          <a:p>
            <a:r>
              <a:rPr lang="en-US" dirty="0"/>
              <a:t>2. NAT</a:t>
            </a:r>
          </a:p>
          <a:p>
            <a:r>
              <a:rPr lang="en-US" dirty="0"/>
              <a:t>3. NAT Operation</a:t>
            </a:r>
          </a:p>
          <a:p>
            <a:r>
              <a:rPr lang="en-US" dirty="0"/>
              <a:t>4. Pooling of IP Address</a:t>
            </a:r>
          </a:p>
          <a:p>
            <a:r>
              <a:rPr lang="en-US" dirty="0"/>
              <a:t>5. PAT</a:t>
            </a:r>
          </a:p>
          <a:p>
            <a:r>
              <a:rPr lang="en-US" dirty="0"/>
              <a:t>6. Load Balancing of Servers</a:t>
            </a:r>
          </a:p>
          <a:p>
            <a:r>
              <a:rPr lang="en-US" dirty="0"/>
              <a:t>7. Advantage/Disadvantage</a:t>
            </a:r>
          </a:p>
          <a:p>
            <a:endParaRPr lang="en-US" dirty="0"/>
          </a:p>
          <a:p>
            <a:pPr marL="342900" indent="-342900">
              <a:buAutoNum type="arabicPeriod"/>
            </a:pPr>
            <a:endParaRPr lang="en-US" dirty="0"/>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04424"/>
            <a:ext cx="7808976" cy="1088136"/>
          </a:xfrm>
        </p:spPr>
        <p:txBody>
          <a:bodyPr>
            <a:normAutofit/>
          </a:bodyPr>
          <a:lstStyle/>
          <a:p>
            <a:r>
              <a:rPr lang="en-US" altLang="en-US" sz="4000" dirty="0"/>
              <a:t>Private Network</a:t>
            </a:r>
            <a:endParaRPr lang="en-US" sz="4000" dirty="0"/>
          </a:p>
        </p:txBody>
      </p:sp>
      <p:sp>
        <p:nvSpPr>
          <p:cNvPr id="3" name="Rectangle 2"/>
          <p:cNvSpPr/>
          <p:nvPr/>
        </p:nvSpPr>
        <p:spPr>
          <a:xfrm>
            <a:off x="304800" y="2284365"/>
            <a:ext cx="8645236" cy="2954655"/>
          </a:xfrm>
          <a:prstGeom prst="rect">
            <a:avLst/>
          </a:prstGeom>
        </p:spPr>
        <p:txBody>
          <a:bodyPr wrap="square">
            <a:spAutoFit/>
          </a:bodyPr>
          <a:lstStyle/>
          <a:p>
            <a:r>
              <a:rPr lang="en-US" altLang="en-US" i="1" dirty="0"/>
              <a:t>Private IP </a:t>
            </a:r>
            <a:r>
              <a:rPr lang="en-US" altLang="en-US" dirty="0"/>
              <a:t>network is an IP network that is not directly connected to the Internet</a:t>
            </a:r>
          </a:p>
          <a:p>
            <a:endParaRPr lang="en-US" altLang="en-US" dirty="0"/>
          </a:p>
          <a:p>
            <a:r>
              <a:rPr lang="en-US" altLang="en-US" dirty="0"/>
              <a:t>IP addresses in a private network can be assigned arbitrarily. </a:t>
            </a:r>
          </a:p>
          <a:p>
            <a:pPr lvl="1"/>
            <a:r>
              <a:rPr lang="en-US" altLang="en-US" dirty="0"/>
              <a:t>Not registered and not guaranteed to be globally unique</a:t>
            </a:r>
          </a:p>
          <a:p>
            <a:endParaRPr lang="en-US" altLang="en-US" dirty="0"/>
          </a:p>
          <a:p>
            <a:r>
              <a:rPr lang="en-US" altLang="en-US" dirty="0"/>
              <a:t>Generally, private networks use addresses from the following experimental address ranges (</a:t>
            </a:r>
            <a:r>
              <a:rPr lang="en-US" altLang="en-US" i="1" dirty="0"/>
              <a:t>non-routable addresses</a:t>
            </a:r>
            <a:r>
              <a:rPr lang="en-US" altLang="en-US" dirty="0"/>
              <a:t>): </a:t>
            </a:r>
          </a:p>
          <a:p>
            <a:pPr lvl="1"/>
            <a:r>
              <a:rPr lang="en-US" altLang="en-US" sz="2000" dirty="0"/>
              <a:t>10.0.0.0 – 10.255.255.255</a:t>
            </a:r>
          </a:p>
          <a:p>
            <a:pPr lvl="1"/>
            <a:r>
              <a:rPr lang="en-US" altLang="en-US" sz="2000" dirty="0"/>
              <a:t>172.16.0.0 – 172.31.255.255</a:t>
            </a:r>
          </a:p>
          <a:p>
            <a:pPr lvl="1"/>
            <a:r>
              <a:rPr lang="en-US" altLang="en-US" sz="2000" dirty="0"/>
              <a:t>192.168.0.0 – 192.168.255.255</a:t>
            </a:r>
          </a:p>
        </p:txBody>
      </p:sp>
    </p:spTree>
    <p:extLst>
      <p:ext uri="{BB962C8B-B14F-4D97-AF65-F5344CB8AC3E}">
        <p14:creationId xmlns:p14="http://schemas.microsoft.com/office/powerpoint/2010/main" val="1092732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04424"/>
            <a:ext cx="7808976" cy="1088136"/>
          </a:xfrm>
        </p:spPr>
        <p:txBody>
          <a:bodyPr>
            <a:normAutofit/>
          </a:bodyPr>
          <a:lstStyle/>
          <a:p>
            <a:r>
              <a:rPr lang="en-US" altLang="en-US" sz="4000" dirty="0"/>
              <a:t>Private Addresses</a:t>
            </a:r>
            <a:endParaRPr lang="en-US" sz="4000" dirty="0"/>
          </a:p>
        </p:txBody>
      </p:sp>
      <p:graphicFrame>
        <p:nvGraphicFramePr>
          <p:cNvPr id="4" name="Object 5"/>
          <p:cNvGraphicFramePr>
            <a:graphicFrameLocks noChangeAspect="1"/>
          </p:cNvGraphicFramePr>
          <p:nvPr>
            <p:extLst>
              <p:ext uri="{D42A27DB-BD31-4B8C-83A1-F6EECF244321}">
                <p14:modId xmlns:p14="http://schemas.microsoft.com/office/powerpoint/2010/main" val="2493324625"/>
              </p:ext>
            </p:extLst>
          </p:nvPr>
        </p:nvGraphicFramePr>
        <p:xfrm>
          <a:off x="485486" y="2318616"/>
          <a:ext cx="7904163" cy="3333750"/>
        </p:xfrm>
        <a:graphic>
          <a:graphicData uri="http://schemas.openxmlformats.org/presentationml/2006/ole">
            <mc:AlternateContent xmlns:mc="http://schemas.openxmlformats.org/markup-compatibility/2006">
              <mc:Choice xmlns:v="urn:schemas-microsoft-com:vml" Requires="v">
                <p:oleObj name="Visio" r:id="rId3" imgW="10768584" imgH="5251094" progId="Visio.Drawing.6">
                  <p:embed/>
                </p:oleObj>
              </mc:Choice>
              <mc:Fallback>
                <p:oleObj name="Visio" r:id="rId3" imgW="10768584" imgH="5251094" progId="Visio.Drawing.6">
                  <p:embed/>
                  <p:pic>
                    <p:nvPicPr>
                      <p:cNvPr id="7174"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486" y="2318616"/>
                        <a:ext cx="7904163"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58798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04424"/>
            <a:ext cx="7808976" cy="1088136"/>
          </a:xfrm>
        </p:spPr>
        <p:txBody>
          <a:bodyPr>
            <a:normAutofit/>
          </a:bodyPr>
          <a:lstStyle/>
          <a:p>
            <a:r>
              <a:rPr lang="en-US" altLang="en-US" sz="4000" dirty="0"/>
              <a:t>Network Address Translation (NAT)</a:t>
            </a:r>
            <a:endParaRPr lang="en-US" sz="4000" dirty="0"/>
          </a:p>
        </p:txBody>
      </p:sp>
      <p:sp>
        <p:nvSpPr>
          <p:cNvPr id="3" name="Rectangle 2"/>
          <p:cNvSpPr/>
          <p:nvPr/>
        </p:nvSpPr>
        <p:spPr>
          <a:xfrm>
            <a:off x="304799" y="2441368"/>
            <a:ext cx="8548255" cy="3139321"/>
          </a:xfrm>
          <a:prstGeom prst="rect">
            <a:avLst/>
          </a:prstGeom>
        </p:spPr>
        <p:txBody>
          <a:bodyPr wrap="square">
            <a:spAutoFit/>
          </a:bodyPr>
          <a:lstStyle/>
          <a:p>
            <a:pPr>
              <a:lnSpc>
                <a:spcPct val="90000"/>
              </a:lnSpc>
            </a:pPr>
            <a:r>
              <a:rPr lang="en-US" altLang="en-US" sz="2000" dirty="0"/>
              <a:t>A short term solution to the problem of the depletion of IP addresses</a:t>
            </a:r>
          </a:p>
          <a:p>
            <a:pPr lvl="1">
              <a:lnSpc>
                <a:spcPct val="90000"/>
              </a:lnSpc>
            </a:pPr>
            <a:r>
              <a:rPr lang="en-US" altLang="en-US" sz="2000" dirty="0"/>
              <a:t>Long term solution is IP v6</a:t>
            </a:r>
          </a:p>
          <a:p>
            <a:pPr lvl="1">
              <a:lnSpc>
                <a:spcPct val="90000"/>
              </a:lnSpc>
            </a:pPr>
            <a:r>
              <a:rPr lang="en-US" altLang="en-US" sz="2000" dirty="0"/>
              <a:t>CIDR (Classless </a:t>
            </a:r>
            <a:r>
              <a:rPr lang="en-US" altLang="en-US" sz="2000" dirty="0" err="1"/>
              <a:t>InterDomain</a:t>
            </a:r>
            <a:r>
              <a:rPr lang="en-US" altLang="en-US" sz="2000" dirty="0"/>
              <a:t> Routing ) is a possible short term solution</a:t>
            </a:r>
          </a:p>
          <a:p>
            <a:pPr lvl="1">
              <a:lnSpc>
                <a:spcPct val="90000"/>
              </a:lnSpc>
            </a:pPr>
            <a:r>
              <a:rPr lang="en-US" altLang="en-US" sz="2000" dirty="0"/>
              <a:t>NAT is another</a:t>
            </a:r>
          </a:p>
          <a:p>
            <a:pPr>
              <a:lnSpc>
                <a:spcPct val="90000"/>
              </a:lnSpc>
            </a:pPr>
            <a:endParaRPr lang="en-US" altLang="en-US" sz="2000" dirty="0"/>
          </a:p>
          <a:p>
            <a:pPr>
              <a:lnSpc>
                <a:spcPct val="90000"/>
              </a:lnSpc>
            </a:pPr>
            <a:r>
              <a:rPr lang="en-US" altLang="en-US" sz="2000" dirty="0"/>
              <a:t>NAT is a way to conserve IP addresses</a:t>
            </a:r>
          </a:p>
          <a:p>
            <a:pPr lvl="1">
              <a:lnSpc>
                <a:spcPct val="90000"/>
              </a:lnSpc>
            </a:pPr>
            <a:r>
              <a:rPr lang="en-US" altLang="en-US" sz="2000" dirty="0"/>
              <a:t>Can be used to hide a number of hosts behind a single IP address</a:t>
            </a:r>
          </a:p>
          <a:p>
            <a:pPr lvl="1">
              <a:lnSpc>
                <a:spcPct val="90000"/>
              </a:lnSpc>
            </a:pPr>
            <a:r>
              <a:rPr lang="en-US" altLang="en-US" sz="2000" dirty="0"/>
              <a:t>Uses private addresses:</a:t>
            </a:r>
          </a:p>
          <a:p>
            <a:pPr lvl="2">
              <a:lnSpc>
                <a:spcPct val="90000"/>
              </a:lnSpc>
            </a:pPr>
            <a:r>
              <a:rPr lang="en-US" altLang="en-US" sz="2000" dirty="0"/>
              <a:t>10.0.0.0-10.255.255.255, </a:t>
            </a:r>
          </a:p>
          <a:p>
            <a:pPr lvl="2">
              <a:lnSpc>
                <a:spcPct val="90000"/>
              </a:lnSpc>
            </a:pPr>
            <a:r>
              <a:rPr lang="en-US" altLang="en-US" sz="2000" dirty="0"/>
              <a:t>172.16.0.0-172.32.255.251 or </a:t>
            </a:r>
          </a:p>
          <a:p>
            <a:pPr lvl="2">
              <a:lnSpc>
                <a:spcPct val="90000"/>
              </a:lnSpc>
            </a:pPr>
            <a:r>
              <a:rPr lang="en-US" altLang="en-US" sz="2000" dirty="0"/>
              <a:t>192.168.0.0-192.168.255.255</a:t>
            </a:r>
          </a:p>
        </p:txBody>
      </p:sp>
    </p:spTree>
    <p:extLst>
      <p:ext uri="{BB962C8B-B14F-4D97-AF65-F5344CB8AC3E}">
        <p14:creationId xmlns:p14="http://schemas.microsoft.com/office/powerpoint/2010/main" val="590903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56824"/>
            <a:ext cx="7808976" cy="1088136"/>
          </a:xfrm>
        </p:spPr>
        <p:txBody>
          <a:bodyPr>
            <a:normAutofit fontScale="90000"/>
          </a:bodyPr>
          <a:lstStyle/>
          <a:p>
            <a:r>
              <a:rPr lang="en-US" altLang="en-US" sz="4000" dirty="0"/>
              <a:t>Network Address Translation (NAT) (</a:t>
            </a:r>
            <a:r>
              <a:rPr lang="en-US" altLang="en-US" sz="4000" dirty="0" err="1"/>
              <a:t>cont</a:t>
            </a:r>
            <a:r>
              <a:rPr lang="en-US" altLang="en-US" sz="4000" dirty="0"/>
              <a:t>…)</a:t>
            </a:r>
            <a:endParaRPr lang="en-US" sz="4000" dirty="0"/>
          </a:p>
        </p:txBody>
      </p:sp>
      <p:sp>
        <p:nvSpPr>
          <p:cNvPr id="3" name="Rectangle 2"/>
          <p:cNvSpPr/>
          <p:nvPr/>
        </p:nvSpPr>
        <p:spPr>
          <a:xfrm>
            <a:off x="415636" y="2704559"/>
            <a:ext cx="8465128" cy="2308324"/>
          </a:xfrm>
          <a:prstGeom prst="rect">
            <a:avLst/>
          </a:prstGeom>
        </p:spPr>
        <p:txBody>
          <a:bodyPr wrap="square">
            <a:spAutoFit/>
          </a:bodyPr>
          <a:lstStyle/>
          <a:p>
            <a:r>
              <a:rPr lang="en-US" altLang="en-US" dirty="0"/>
              <a:t>NAT is a router function where IP addresses (and possibly port numbers) of IP datagrams are replaced at the boundary of a private network</a:t>
            </a:r>
          </a:p>
          <a:p>
            <a:endParaRPr lang="en-US" altLang="en-US" dirty="0"/>
          </a:p>
          <a:p>
            <a:r>
              <a:rPr lang="en-US" altLang="en-US" dirty="0"/>
              <a:t>NAT is a method that enables hosts on private networks to communicate with hosts on the Internet</a:t>
            </a:r>
          </a:p>
          <a:p>
            <a:endParaRPr lang="en-US" altLang="en-US" dirty="0"/>
          </a:p>
          <a:p>
            <a:r>
              <a:rPr lang="en-US" altLang="en-US" dirty="0"/>
              <a:t>NAT is run on routers that connect private networks to the public Internet, to replace the IP address-port pair of an IP packet with another IP address-port pair. </a:t>
            </a:r>
          </a:p>
        </p:txBody>
      </p:sp>
    </p:spTree>
    <p:extLst>
      <p:ext uri="{BB962C8B-B14F-4D97-AF65-F5344CB8AC3E}">
        <p14:creationId xmlns:p14="http://schemas.microsoft.com/office/powerpoint/2010/main" val="2783982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04424"/>
            <a:ext cx="7808976" cy="1088136"/>
          </a:xfrm>
        </p:spPr>
        <p:txBody>
          <a:bodyPr>
            <a:normAutofit/>
          </a:bodyPr>
          <a:lstStyle/>
          <a:p>
            <a:r>
              <a:rPr lang="en-US" altLang="en-US" sz="4000" dirty="0"/>
              <a:t>Basic Operation of NAT</a:t>
            </a:r>
            <a:endParaRPr lang="en-US" sz="4000" dirty="0"/>
          </a:p>
        </p:txBody>
      </p:sp>
      <p:graphicFrame>
        <p:nvGraphicFramePr>
          <p:cNvPr id="6" name="Object 5"/>
          <p:cNvGraphicFramePr>
            <a:graphicFrameLocks noChangeAspect="1"/>
          </p:cNvGraphicFramePr>
          <p:nvPr>
            <p:extLst>
              <p:ext uri="{D42A27DB-BD31-4B8C-83A1-F6EECF244321}">
                <p14:modId xmlns:p14="http://schemas.microsoft.com/office/powerpoint/2010/main" val="1829039259"/>
              </p:ext>
            </p:extLst>
          </p:nvPr>
        </p:nvGraphicFramePr>
        <p:xfrm>
          <a:off x="304798" y="1464069"/>
          <a:ext cx="8492837" cy="4631931"/>
        </p:xfrm>
        <a:graphic>
          <a:graphicData uri="http://schemas.openxmlformats.org/presentationml/2006/ole">
            <mc:AlternateContent xmlns:mc="http://schemas.openxmlformats.org/markup-compatibility/2006">
              <mc:Choice xmlns:v="urn:schemas-microsoft-com:vml" Requires="v">
                <p:oleObj name="Visio" r:id="rId3" imgW="10111154" imgH="5574323" progId="Visio.Drawing.6">
                  <p:embed/>
                </p:oleObj>
              </mc:Choice>
              <mc:Fallback>
                <p:oleObj name="Visio" r:id="rId3" imgW="10111154" imgH="5574323" progId="Visio.Drawing.6">
                  <p:embed/>
                  <p:pic>
                    <p:nvPicPr>
                      <p:cNvPr id="10246"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798" y="1464069"/>
                        <a:ext cx="8492837" cy="4631931"/>
                      </a:xfrm>
                      <a:prstGeom prst="rect">
                        <a:avLst/>
                      </a:prstGeom>
                      <a:noFill/>
                      <a:ln>
                        <a:noFill/>
                      </a:ln>
                    </p:spPr>
                  </p:pic>
                </p:oleObj>
              </mc:Fallback>
            </mc:AlternateContent>
          </a:graphicData>
        </a:graphic>
      </p:graphicFrame>
      <p:sp>
        <p:nvSpPr>
          <p:cNvPr id="3" name="Rectangle 2"/>
          <p:cNvSpPr/>
          <p:nvPr/>
        </p:nvSpPr>
        <p:spPr>
          <a:xfrm>
            <a:off x="304799" y="5348529"/>
            <a:ext cx="5361709" cy="646331"/>
          </a:xfrm>
          <a:prstGeom prst="rect">
            <a:avLst/>
          </a:prstGeom>
        </p:spPr>
        <p:txBody>
          <a:bodyPr wrap="square">
            <a:spAutoFit/>
          </a:bodyPr>
          <a:lstStyle/>
          <a:p>
            <a:r>
              <a:rPr lang="en-US" altLang="en-US" dirty="0"/>
              <a:t>NAT device has address translation table</a:t>
            </a:r>
          </a:p>
          <a:p>
            <a:r>
              <a:rPr lang="en-US" altLang="en-US" dirty="0"/>
              <a:t>One to one address translation</a:t>
            </a:r>
          </a:p>
        </p:txBody>
      </p:sp>
    </p:spTree>
    <p:extLst>
      <p:ext uri="{BB962C8B-B14F-4D97-AF65-F5344CB8AC3E}">
        <p14:creationId xmlns:p14="http://schemas.microsoft.com/office/powerpoint/2010/main" val="1170133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04424"/>
            <a:ext cx="7808976" cy="1088136"/>
          </a:xfrm>
        </p:spPr>
        <p:txBody>
          <a:bodyPr>
            <a:normAutofit/>
          </a:bodyPr>
          <a:lstStyle/>
          <a:p>
            <a:r>
              <a:rPr lang="en-US" altLang="en-US" sz="4000" dirty="0"/>
              <a:t>Pooling of IP Addresses</a:t>
            </a:r>
            <a:endParaRPr lang="en-US" sz="4000" dirty="0"/>
          </a:p>
        </p:txBody>
      </p:sp>
      <p:sp>
        <p:nvSpPr>
          <p:cNvPr id="3" name="Rectangle 2"/>
          <p:cNvSpPr/>
          <p:nvPr/>
        </p:nvSpPr>
        <p:spPr>
          <a:xfrm>
            <a:off x="207818" y="2344433"/>
            <a:ext cx="8936182" cy="2585323"/>
          </a:xfrm>
          <a:prstGeom prst="rect">
            <a:avLst/>
          </a:prstGeom>
        </p:spPr>
        <p:txBody>
          <a:bodyPr wrap="square">
            <a:spAutoFit/>
          </a:bodyPr>
          <a:lstStyle/>
          <a:p>
            <a:r>
              <a:rPr lang="en-US" altLang="en-US" b="1" dirty="0"/>
              <a:t>Scenario:</a:t>
            </a:r>
            <a:r>
              <a:rPr lang="en-US" altLang="en-US" dirty="0"/>
              <a:t> Corporate network has many hosts but only a small number of public IP addresses</a:t>
            </a:r>
          </a:p>
          <a:p>
            <a:endParaRPr lang="en-US" altLang="en-US" dirty="0"/>
          </a:p>
          <a:p>
            <a:r>
              <a:rPr lang="en-US" altLang="en-US" b="1" dirty="0"/>
              <a:t>NAT solution:</a:t>
            </a:r>
          </a:p>
          <a:p>
            <a:pPr lvl="1"/>
            <a:r>
              <a:rPr lang="en-US" altLang="en-US" dirty="0"/>
              <a:t>Corporate network is managed with a private address space</a:t>
            </a:r>
          </a:p>
          <a:p>
            <a:pPr lvl="1"/>
            <a:r>
              <a:rPr lang="en-US" altLang="en-US" dirty="0"/>
              <a:t>NAT device, located at the boundary between the corporate network and the public Internet, manages a pool of public IP addresses </a:t>
            </a:r>
          </a:p>
          <a:p>
            <a:pPr lvl="1"/>
            <a:r>
              <a:rPr lang="en-US" altLang="en-US" dirty="0"/>
              <a:t>When a host from the corporate network sends an IP datagram to a host in the public Internet, the NAT device picks a public IP address from the address pool, and binds this address to the private address of the host</a:t>
            </a:r>
          </a:p>
        </p:txBody>
      </p:sp>
    </p:spTree>
    <p:extLst>
      <p:ext uri="{BB962C8B-B14F-4D97-AF65-F5344CB8AC3E}">
        <p14:creationId xmlns:p14="http://schemas.microsoft.com/office/powerpoint/2010/main" val="9379765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504424"/>
            <a:ext cx="7808976" cy="1088136"/>
          </a:xfrm>
        </p:spPr>
        <p:txBody>
          <a:bodyPr>
            <a:normAutofit/>
          </a:bodyPr>
          <a:lstStyle/>
          <a:p>
            <a:r>
              <a:rPr lang="en-US" altLang="en-US" sz="4000" dirty="0"/>
              <a:t>Pooling of IP Addresses (</a:t>
            </a:r>
            <a:r>
              <a:rPr lang="en-US" altLang="en-US" sz="4000" dirty="0" err="1"/>
              <a:t>cont</a:t>
            </a:r>
            <a:r>
              <a:rPr lang="en-US" altLang="en-US" sz="4000" dirty="0"/>
              <a:t>…)</a:t>
            </a:r>
            <a:endParaRPr lang="en-US" sz="4000" dirty="0"/>
          </a:p>
        </p:txBody>
      </p:sp>
      <p:graphicFrame>
        <p:nvGraphicFramePr>
          <p:cNvPr id="5" name="Object 5"/>
          <p:cNvGraphicFramePr>
            <a:graphicFrameLocks noChangeAspect="1"/>
          </p:cNvGraphicFramePr>
          <p:nvPr>
            <p:extLst>
              <p:ext uri="{D42A27DB-BD31-4B8C-83A1-F6EECF244321}">
                <p14:modId xmlns:p14="http://schemas.microsoft.com/office/powerpoint/2010/main" val="2529450808"/>
              </p:ext>
            </p:extLst>
          </p:nvPr>
        </p:nvGraphicFramePr>
        <p:xfrm>
          <a:off x="190604" y="1793442"/>
          <a:ext cx="8800996" cy="4572000"/>
        </p:xfrm>
        <a:graphic>
          <a:graphicData uri="http://schemas.openxmlformats.org/presentationml/2006/ole">
            <mc:AlternateContent xmlns:mc="http://schemas.openxmlformats.org/markup-compatibility/2006">
              <mc:Choice xmlns:v="urn:schemas-microsoft-com:vml" Requires="v">
                <p:oleObj name="Visio" r:id="rId3" imgW="10950321" imgH="6035853" progId="Visio.Drawing.6">
                  <p:embed/>
                </p:oleObj>
              </mc:Choice>
              <mc:Fallback>
                <p:oleObj name="Visio" r:id="rId3" imgW="10950321" imgH="6035853" progId="Visio.Drawing.6">
                  <p:embed/>
                  <p:pic>
                    <p:nvPicPr>
                      <p:cNvPr id="12292"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604" y="1793442"/>
                        <a:ext cx="8800996" cy="45720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3478246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70678"/>
            <a:ext cx="7808976" cy="1088136"/>
          </a:xfrm>
        </p:spPr>
        <p:txBody>
          <a:bodyPr>
            <a:normAutofit fontScale="90000"/>
          </a:bodyPr>
          <a:lstStyle/>
          <a:p>
            <a:r>
              <a:rPr lang="en-US" altLang="en-US" sz="4000" dirty="0"/>
              <a:t>Supporting Migration between </a:t>
            </a:r>
            <a:br>
              <a:rPr lang="en-US" altLang="en-US" sz="4000" dirty="0"/>
            </a:br>
            <a:r>
              <a:rPr lang="en-US" altLang="en-US" sz="4000" dirty="0"/>
              <a:t>Network Service Providers</a:t>
            </a:r>
            <a:endParaRPr lang="en-US" sz="4000" dirty="0"/>
          </a:p>
        </p:txBody>
      </p:sp>
      <p:sp>
        <p:nvSpPr>
          <p:cNvPr id="3" name="Rectangle 2"/>
          <p:cNvSpPr/>
          <p:nvPr/>
        </p:nvSpPr>
        <p:spPr>
          <a:xfrm>
            <a:off x="304800" y="2386879"/>
            <a:ext cx="8534400" cy="2862322"/>
          </a:xfrm>
          <a:prstGeom prst="rect">
            <a:avLst/>
          </a:prstGeom>
        </p:spPr>
        <p:txBody>
          <a:bodyPr wrap="square">
            <a:spAutoFit/>
          </a:bodyPr>
          <a:lstStyle/>
          <a:p>
            <a:r>
              <a:rPr lang="en-US" altLang="en-US" sz="2000" b="1" dirty="0"/>
              <a:t>Scenario:</a:t>
            </a:r>
            <a:r>
              <a:rPr lang="en-US" altLang="en-US" sz="2000" dirty="0"/>
              <a:t> In CIDR, the IP addresses in a corporate network are obtained from the service provider. Changing the service provider requires changing all IP addresses in the network. </a:t>
            </a:r>
          </a:p>
          <a:p>
            <a:r>
              <a:rPr lang="en-US" altLang="en-US" sz="2000" b="1" dirty="0"/>
              <a:t>NAT solution:</a:t>
            </a:r>
          </a:p>
          <a:p>
            <a:pPr lvl="1"/>
            <a:r>
              <a:rPr lang="en-US" altLang="en-US" sz="2000" dirty="0"/>
              <a:t>Assign private addresses to the hosts of the corporate network</a:t>
            </a:r>
          </a:p>
          <a:p>
            <a:pPr lvl="1"/>
            <a:r>
              <a:rPr lang="en-US" altLang="en-US" sz="2000" dirty="0"/>
              <a:t>NAT device has static address translation entries which bind the private address of a host to the public address. </a:t>
            </a:r>
          </a:p>
          <a:p>
            <a:pPr lvl="1"/>
            <a:r>
              <a:rPr lang="en-US" altLang="en-US" sz="2000" dirty="0"/>
              <a:t>Migration to a new network service provider merely requires an update of the NAT device. The migration is not noticeable to the hosts on the network. </a:t>
            </a:r>
          </a:p>
        </p:txBody>
      </p:sp>
    </p:spTree>
    <p:extLst>
      <p:ext uri="{BB962C8B-B14F-4D97-AF65-F5344CB8AC3E}">
        <p14:creationId xmlns:p14="http://schemas.microsoft.com/office/powerpoint/2010/main" val="27181789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56824"/>
            <a:ext cx="7808976" cy="1088136"/>
          </a:xfrm>
        </p:spPr>
        <p:txBody>
          <a:bodyPr>
            <a:normAutofit fontScale="90000"/>
          </a:bodyPr>
          <a:lstStyle/>
          <a:p>
            <a:r>
              <a:rPr lang="en-US" altLang="en-US" sz="4000" dirty="0"/>
              <a:t>Supporting Migration between </a:t>
            </a:r>
            <a:br>
              <a:rPr lang="en-US" altLang="en-US" sz="4000" dirty="0"/>
            </a:br>
            <a:r>
              <a:rPr lang="en-US" altLang="en-US" sz="4000" dirty="0"/>
              <a:t>network service Providers (</a:t>
            </a:r>
            <a:r>
              <a:rPr lang="en-US" altLang="en-US" sz="4000" dirty="0" err="1"/>
              <a:t>cont</a:t>
            </a:r>
            <a:r>
              <a:rPr lang="en-US" altLang="en-US" sz="4000" dirty="0"/>
              <a:t>…)</a:t>
            </a:r>
            <a:endParaRPr lang="en-US" sz="4000" dirty="0"/>
          </a:p>
        </p:txBody>
      </p:sp>
      <p:graphicFrame>
        <p:nvGraphicFramePr>
          <p:cNvPr id="4" name="Object 5"/>
          <p:cNvGraphicFramePr>
            <a:graphicFrameLocks noChangeAspect="1"/>
          </p:cNvGraphicFramePr>
          <p:nvPr>
            <p:extLst>
              <p:ext uri="{D42A27DB-BD31-4B8C-83A1-F6EECF244321}">
                <p14:modId xmlns:p14="http://schemas.microsoft.com/office/powerpoint/2010/main" val="2028584531"/>
              </p:ext>
            </p:extLst>
          </p:nvPr>
        </p:nvGraphicFramePr>
        <p:xfrm>
          <a:off x="0" y="2271425"/>
          <a:ext cx="9144001" cy="3790950"/>
        </p:xfrm>
        <a:graphic>
          <a:graphicData uri="http://schemas.openxmlformats.org/presentationml/2006/ole">
            <mc:AlternateContent xmlns:mc="http://schemas.openxmlformats.org/markup-compatibility/2006">
              <mc:Choice xmlns:v="urn:schemas-microsoft-com:vml" Requires="v">
                <p:oleObj name="Visio" r:id="rId3" imgW="10111154" imgH="4844562" progId="Visio.Drawing.6">
                  <p:embed/>
                </p:oleObj>
              </mc:Choice>
              <mc:Fallback>
                <p:oleObj name="Visio" r:id="rId3" imgW="10111154" imgH="4844562" progId="Visio.Drawing.6">
                  <p:embed/>
                  <p:pic>
                    <p:nvPicPr>
                      <p:cNvPr id="1434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271425"/>
                        <a:ext cx="9144001" cy="379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658376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56824"/>
            <a:ext cx="7808976" cy="1088136"/>
          </a:xfrm>
        </p:spPr>
        <p:txBody>
          <a:bodyPr>
            <a:normAutofit/>
          </a:bodyPr>
          <a:lstStyle/>
          <a:p>
            <a:r>
              <a:rPr lang="en-US" altLang="en-US" sz="4000" dirty="0"/>
              <a:t>IP Masquerading</a:t>
            </a:r>
            <a:endParaRPr lang="en-US" sz="4000" dirty="0"/>
          </a:p>
        </p:txBody>
      </p:sp>
      <p:sp>
        <p:nvSpPr>
          <p:cNvPr id="3" name="Rectangle 2"/>
          <p:cNvSpPr/>
          <p:nvPr/>
        </p:nvSpPr>
        <p:spPr>
          <a:xfrm>
            <a:off x="304800" y="2898384"/>
            <a:ext cx="8645236" cy="1477328"/>
          </a:xfrm>
          <a:prstGeom prst="rect">
            <a:avLst/>
          </a:prstGeom>
        </p:spPr>
        <p:txBody>
          <a:bodyPr wrap="square">
            <a:spAutoFit/>
          </a:bodyPr>
          <a:lstStyle/>
          <a:p>
            <a:r>
              <a:rPr lang="en-US" altLang="en-US" b="1" dirty="0"/>
              <a:t>Also called: Network address and port translation (NAPT), port address translation (PAT).</a:t>
            </a:r>
            <a:r>
              <a:rPr lang="en-US" altLang="en-US" dirty="0"/>
              <a:t> </a:t>
            </a:r>
            <a:endParaRPr lang="en-US" altLang="en-US" b="1" dirty="0"/>
          </a:p>
          <a:p>
            <a:r>
              <a:rPr lang="en-US" altLang="en-US" b="1" dirty="0"/>
              <a:t>Scenario:</a:t>
            </a:r>
            <a:r>
              <a:rPr lang="en-US" altLang="en-US" dirty="0"/>
              <a:t> Single public IP address is mapped to multiple hosts in a private network. </a:t>
            </a:r>
          </a:p>
          <a:p>
            <a:r>
              <a:rPr lang="en-US" altLang="en-US" b="1" dirty="0"/>
              <a:t>NAT solution:</a:t>
            </a:r>
          </a:p>
          <a:p>
            <a:pPr lvl="1"/>
            <a:r>
              <a:rPr lang="en-US" altLang="en-US" dirty="0"/>
              <a:t>Assign private addresses to the hosts of the corporate network</a:t>
            </a:r>
          </a:p>
          <a:p>
            <a:pPr lvl="1"/>
            <a:r>
              <a:rPr lang="en-US" altLang="en-US" dirty="0"/>
              <a:t>NAT device modifies the port numbers for outgoing traffic</a:t>
            </a:r>
          </a:p>
        </p:txBody>
      </p:sp>
    </p:spTree>
    <p:extLst>
      <p:ext uri="{BB962C8B-B14F-4D97-AF65-F5344CB8AC3E}">
        <p14:creationId xmlns:p14="http://schemas.microsoft.com/office/powerpoint/2010/main" val="1444942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56824"/>
            <a:ext cx="7808976" cy="1088136"/>
          </a:xfrm>
        </p:spPr>
        <p:txBody>
          <a:bodyPr>
            <a:normAutofit/>
          </a:bodyPr>
          <a:lstStyle/>
          <a:p>
            <a:r>
              <a:rPr lang="en-US" altLang="en-US" sz="4000" dirty="0"/>
              <a:t>IP Masquerading (</a:t>
            </a:r>
            <a:r>
              <a:rPr lang="en-US" altLang="en-US" sz="4000" dirty="0" err="1"/>
              <a:t>cont</a:t>
            </a:r>
            <a:r>
              <a:rPr lang="en-US" altLang="en-US" sz="4000" dirty="0"/>
              <a:t>…)</a:t>
            </a:r>
            <a:endParaRPr lang="en-US" sz="4000" dirty="0"/>
          </a:p>
        </p:txBody>
      </p:sp>
      <p:graphicFrame>
        <p:nvGraphicFramePr>
          <p:cNvPr id="5" name="Object 5"/>
          <p:cNvGraphicFramePr>
            <a:graphicFrameLocks noChangeAspect="1"/>
          </p:cNvGraphicFramePr>
          <p:nvPr>
            <p:extLst>
              <p:ext uri="{D42A27DB-BD31-4B8C-83A1-F6EECF244321}">
                <p14:modId xmlns:p14="http://schemas.microsoft.com/office/powerpoint/2010/main" val="1199986334"/>
              </p:ext>
            </p:extLst>
          </p:nvPr>
        </p:nvGraphicFramePr>
        <p:xfrm>
          <a:off x="0" y="1959409"/>
          <a:ext cx="8929688" cy="4260850"/>
        </p:xfrm>
        <a:graphic>
          <a:graphicData uri="http://schemas.openxmlformats.org/presentationml/2006/ole">
            <mc:AlternateContent xmlns:mc="http://schemas.openxmlformats.org/markup-compatibility/2006">
              <mc:Choice xmlns:v="urn:schemas-microsoft-com:vml" Requires="v">
                <p:oleObj name="Visio" r:id="rId3" imgW="10345204" imgH="5346934" progId="Visio.Drawing.6">
                  <p:embed/>
                </p:oleObj>
              </mc:Choice>
              <mc:Fallback>
                <p:oleObj name="Visio" r:id="rId3" imgW="10345204" imgH="5346934" progId="Visio.Drawing.6">
                  <p:embed/>
                  <p:pic>
                    <p:nvPicPr>
                      <p:cNvPr id="1639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959409"/>
                        <a:ext cx="8929688" cy="426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230924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5AF15-A6B7-4F4B-8788-A3630E24DDBC}"/>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655D62E-CECB-4D81-86C4-FD821656BC66}"/>
              </a:ext>
            </a:extLst>
          </p:cNvPr>
          <p:cNvPicPr>
            <a:picLocks noGrp="1" noChangeAspect="1"/>
          </p:cNvPicPr>
          <p:nvPr>
            <p:ph idx="1"/>
          </p:nvPr>
        </p:nvPicPr>
        <p:blipFill rotWithShape="1">
          <a:blip r:embed="rId2"/>
          <a:srcRect l="3414" t="13409" r="27677" b="20086"/>
          <a:stretch/>
        </p:blipFill>
        <p:spPr>
          <a:xfrm>
            <a:off x="0" y="1059426"/>
            <a:ext cx="9524627" cy="5168192"/>
          </a:xfrm>
        </p:spPr>
      </p:pic>
    </p:spTree>
    <p:extLst>
      <p:ext uri="{BB962C8B-B14F-4D97-AF65-F5344CB8AC3E}">
        <p14:creationId xmlns:p14="http://schemas.microsoft.com/office/powerpoint/2010/main" val="23565832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56824"/>
            <a:ext cx="7808976" cy="1088136"/>
          </a:xfrm>
        </p:spPr>
        <p:txBody>
          <a:bodyPr>
            <a:normAutofit/>
          </a:bodyPr>
          <a:lstStyle/>
          <a:p>
            <a:r>
              <a:rPr lang="en-US" altLang="en-US" sz="4000" dirty="0"/>
              <a:t>Load Balancing of Servers</a:t>
            </a:r>
            <a:endParaRPr lang="en-US" sz="4000" dirty="0"/>
          </a:p>
        </p:txBody>
      </p:sp>
      <p:sp>
        <p:nvSpPr>
          <p:cNvPr id="3" name="Rectangle 2"/>
          <p:cNvSpPr/>
          <p:nvPr/>
        </p:nvSpPr>
        <p:spPr>
          <a:xfrm>
            <a:off x="304799" y="2427491"/>
            <a:ext cx="8672945" cy="2585323"/>
          </a:xfrm>
          <a:prstGeom prst="rect">
            <a:avLst/>
          </a:prstGeom>
        </p:spPr>
        <p:txBody>
          <a:bodyPr wrap="square">
            <a:spAutoFit/>
          </a:bodyPr>
          <a:lstStyle/>
          <a:p>
            <a:pPr>
              <a:lnSpc>
                <a:spcPct val="90000"/>
              </a:lnSpc>
            </a:pPr>
            <a:r>
              <a:rPr lang="en-US" altLang="en-US" b="1" dirty="0"/>
              <a:t>Scenario:</a:t>
            </a:r>
            <a:r>
              <a:rPr lang="en-US" altLang="en-US" dirty="0"/>
              <a:t> Balance the load on a set of identical servers, which are accessible from a single IP address</a:t>
            </a:r>
          </a:p>
          <a:p>
            <a:pPr>
              <a:lnSpc>
                <a:spcPct val="90000"/>
              </a:lnSpc>
            </a:pPr>
            <a:endParaRPr lang="en-US" altLang="en-US" dirty="0"/>
          </a:p>
          <a:p>
            <a:pPr>
              <a:lnSpc>
                <a:spcPct val="90000"/>
              </a:lnSpc>
            </a:pPr>
            <a:r>
              <a:rPr lang="en-US" altLang="en-US" b="1" dirty="0"/>
              <a:t>NAT solution:</a:t>
            </a:r>
          </a:p>
          <a:p>
            <a:pPr lvl="1">
              <a:lnSpc>
                <a:spcPct val="90000"/>
              </a:lnSpc>
            </a:pPr>
            <a:r>
              <a:rPr lang="en-US" altLang="en-US" dirty="0"/>
              <a:t>Here, the servers are assigned private addresses </a:t>
            </a:r>
          </a:p>
          <a:p>
            <a:pPr lvl="1">
              <a:lnSpc>
                <a:spcPct val="90000"/>
              </a:lnSpc>
            </a:pPr>
            <a:r>
              <a:rPr lang="en-US" altLang="en-US" dirty="0"/>
              <a:t>NAT device acts as a proxy for requests to the server from the public network</a:t>
            </a:r>
          </a:p>
          <a:p>
            <a:pPr lvl="1">
              <a:lnSpc>
                <a:spcPct val="90000"/>
              </a:lnSpc>
            </a:pPr>
            <a:r>
              <a:rPr lang="en-US" altLang="en-US" dirty="0"/>
              <a:t>The NAT device changes the destination IP address of arriving packets to one of the private addresses for a server</a:t>
            </a:r>
          </a:p>
          <a:p>
            <a:pPr lvl="1">
              <a:lnSpc>
                <a:spcPct val="90000"/>
              </a:lnSpc>
            </a:pPr>
            <a:r>
              <a:rPr lang="en-US" altLang="en-US" dirty="0"/>
              <a:t>A sensible strategy for balancing the load of the servers is to assign the addresses of the servers in a round-robin fashion. </a:t>
            </a:r>
          </a:p>
        </p:txBody>
      </p:sp>
    </p:spTree>
    <p:extLst>
      <p:ext uri="{BB962C8B-B14F-4D97-AF65-F5344CB8AC3E}">
        <p14:creationId xmlns:p14="http://schemas.microsoft.com/office/powerpoint/2010/main" val="32087501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56824"/>
            <a:ext cx="7808976" cy="1088136"/>
          </a:xfrm>
        </p:spPr>
        <p:txBody>
          <a:bodyPr>
            <a:normAutofit/>
          </a:bodyPr>
          <a:lstStyle/>
          <a:p>
            <a:r>
              <a:rPr lang="en-US" altLang="en-US" sz="4000" dirty="0"/>
              <a:t>Load Balancing of Servers (</a:t>
            </a:r>
            <a:r>
              <a:rPr lang="en-US" altLang="en-US" sz="4000" dirty="0" err="1"/>
              <a:t>cont</a:t>
            </a:r>
            <a:r>
              <a:rPr lang="en-US" altLang="en-US" sz="4000" dirty="0"/>
              <a:t>…)</a:t>
            </a:r>
            <a:endParaRPr lang="en-US" sz="4000" dirty="0"/>
          </a:p>
        </p:txBody>
      </p:sp>
      <p:graphicFrame>
        <p:nvGraphicFramePr>
          <p:cNvPr id="4" name="Object 6"/>
          <p:cNvGraphicFramePr>
            <a:graphicFrameLocks noChangeAspect="1"/>
          </p:cNvGraphicFramePr>
          <p:nvPr>
            <p:extLst>
              <p:ext uri="{D42A27DB-BD31-4B8C-83A1-F6EECF244321}">
                <p14:modId xmlns:p14="http://schemas.microsoft.com/office/powerpoint/2010/main" val="3245895637"/>
              </p:ext>
            </p:extLst>
          </p:nvPr>
        </p:nvGraphicFramePr>
        <p:xfrm>
          <a:off x="152400" y="2140095"/>
          <a:ext cx="8788400" cy="4152900"/>
        </p:xfrm>
        <a:graphic>
          <a:graphicData uri="http://schemas.openxmlformats.org/presentationml/2006/ole">
            <mc:AlternateContent xmlns:mc="http://schemas.openxmlformats.org/markup-compatibility/2006">
              <mc:Choice xmlns:v="urn:schemas-microsoft-com:vml" Requires="v">
                <p:oleObj name="Visio" r:id="rId3" imgW="11788224" imgH="6036390" progId="Visio.Drawing.6">
                  <p:embed/>
                </p:oleObj>
              </mc:Choice>
              <mc:Fallback>
                <p:oleObj name="Visio" r:id="rId3" imgW="11788224" imgH="6036390" progId="Visio.Drawing.6">
                  <p:embed/>
                  <p:pic>
                    <p:nvPicPr>
                      <p:cNvPr id="18439"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2140095"/>
                        <a:ext cx="8788400" cy="415290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7785302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56824"/>
            <a:ext cx="7808976" cy="1088136"/>
          </a:xfrm>
        </p:spPr>
        <p:txBody>
          <a:bodyPr>
            <a:normAutofit/>
          </a:bodyPr>
          <a:lstStyle/>
          <a:p>
            <a:r>
              <a:rPr lang="en-US" altLang="en-US" sz="4000" dirty="0"/>
              <a:t>Concerns about NAT</a:t>
            </a:r>
            <a:endParaRPr lang="en-US" sz="4000" dirty="0"/>
          </a:p>
        </p:txBody>
      </p:sp>
      <p:sp>
        <p:nvSpPr>
          <p:cNvPr id="3" name="Rectangle 2"/>
          <p:cNvSpPr/>
          <p:nvPr/>
        </p:nvSpPr>
        <p:spPr>
          <a:xfrm>
            <a:off x="304800" y="2621385"/>
            <a:ext cx="8423564" cy="2308324"/>
          </a:xfrm>
          <a:prstGeom prst="rect">
            <a:avLst/>
          </a:prstGeom>
        </p:spPr>
        <p:txBody>
          <a:bodyPr wrap="square">
            <a:spAutoFit/>
          </a:bodyPr>
          <a:lstStyle/>
          <a:p>
            <a:r>
              <a:rPr lang="en-US" altLang="en-US" b="1" dirty="0"/>
              <a:t>Performance:</a:t>
            </a:r>
          </a:p>
          <a:p>
            <a:pPr lvl="1"/>
            <a:r>
              <a:rPr lang="en-US" altLang="en-US" dirty="0"/>
              <a:t>Modifying the IP header by changing the IP address requires that NAT boxes recalculate the IP header checksum</a:t>
            </a:r>
          </a:p>
          <a:p>
            <a:pPr lvl="1"/>
            <a:r>
              <a:rPr lang="en-US" altLang="en-US" dirty="0"/>
              <a:t>Modifying port number requires that NAT boxes recalculate TCP checksum</a:t>
            </a:r>
          </a:p>
          <a:p>
            <a:r>
              <a:rPr lang="en-US" altLang="en-US" b="1" dirty="0"/>
              <a:t>Fragmentation</a:t>
            </a:r>
          </a:p>
          <a:p>
            <a:pPr lvl="1"/>
            <a:r>
              <a:rPr lang="en-US" altLang="en-US" dirty="0"/>
              <a:t>Care must be taken that a datagram that is fragmented before it reaches the NAT device, is not assigned a different IP address or different port numbers for each of the fragments. </a:t>
            </a:r>
          </a:p>
        </p:txBody>
      </p:sp>
    </p:spTree>
    <p:extLst>
      <p:ext uri="{BB962C8B-B14F-4D97-AF65-F5344CB8AC3E}">
        <p14:creationId xmlns:p14="http://schemas.microsoft.com/office/powerpoint/2010/main" val="14402035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56824"/>
            <a:ext cx="7808976" cy="1088136"/>
          </a:xfrm>
        </p:spPr>
        <p:txBody>
          <a:bodyPr>
            <a:normAutofit/>
          </a:bodyPr>
          <a:lstStyle/>
          <a:p>
            <a:r>
              <a:rPr lang="en-US" altLang="en-US" sz="4000" dirty="0"/>
              <a:t>Advantage</a:t>
            </a:r>
            <a:endParaRPr lang="en-US" sz="4000" dirty="0"/>
          </a:p>
        </p:txBody>
      </p:sp>
      <p:sp>
        <p:nvSpPr>
          <p:cNvPr id="4" name="Rectangle 3"/>
          <p:cNvSpPr/>
          <p:nvPr/>
        </p:nvSpPr>
        <p:spPr>
          <a:xfrm>
            <a:off x="304800" y="2161861"/>
            <a:ext cx="8548255" cy="3693319"/>
          </a:xfrm>
          <a:prstGeom prst="rect">
            <a:avLst/>
          </a:prstGeom>
        </p:spPr>
        <p:txBody>
          <a:bodyPr wrap="square">
            <a:spAutoFit/>
          </a:bodyPr>
          <a:lstStyle/>
          <a:p>
            <a:r>
              <a:rPr lang="en-US" dirty="0"/>
              <a:t>Advantages of NAT</a:t>
            </a:r>
          </a:p>
          <a:p>
            <a:endParaRPr lang="en-US" dirty="0"/>
          </a:p>
          <a:p>
            <a:r>
              <a:rPr lang="en-US" dirty="0"/>
              <a:t>• The main advantage of NAT (Network Address Translation) is that it can prevent the depletion of IPv4 addresses.</a:t>
            </a:r>
          </a:p>
          <a:p>
            <a:endParaRPr lang="en-US" dirty="0"/>
          </a:p>
          <a:p>
            <a:r>
              <a:rPr lang="en-US" dirty="0"/>
              <a:t>• NAT (Network Address Translation) can provide an additional layer of security by making the original source and destination addresses hidden.</a:t>
            </a:r>
          </a:p>
          <a:p>
            <a:endParaRPr lang="en-US" dirty="0"/>
          </a:p>
          <a:p>
            <a:r>
              <a:rPr lang="en-US" dirty="0"/>
              <a:t>• NAT (Network Address Translation) provides increased flexibility when connecting to the public Internet.</a:t>
            </a:r>
          </a:p>
          <a:p>
            <a:endParaRPr lang="en-US" dirty="0"/>
          </a:p>
          <a:p>
            <a:r>
              <a:rPr lang="en-US" dirty="0"/>
              <a:t>• NAT (Network Address Translation) allows to use your own private IPv4 addressing system and prevent the internal address changes if you change the service provider.</a:t>
            </a:r>
          </a:p>
        </p:txBody>
      </p:sp>
    </p:spTree>
    <p:extLst>
      <p:ext uri="{BB962C8B-B14F-4D97-AF65-F5344CB8AC3E}">
        <p14:creationId xmlns:p14="http://schemas.microsoft.com/office/powerpoint/2010/main" val="33288750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56824"/>
            <a:ext cx="7808976" cy="1088136"/>
          </a:xfrm>
        </p:spPr>
        <p:txBody>
          <a:bodyPr>
            <a:normAutofit/>
          </a:bodyPr>
          <a:lstStyle/>
          <a:p>
            <a:r>
              <a:rPr lang="en-US" altLang="en-US" sz="4000" dirty="0"/>
              <a:t>Disadvantage</a:t>
            </a:r>
            <a:endParaRPr lang="en-US" sz="4000" dirty="0"/>
          </a:p>
        </p:txBody>
      </p:sp>
      <p:sp>
        <p:nvSpPr>
          <p:cNvPr id="3" name="Rectangle 2"/>
          <p:cNvSpPr/>
          <p:nvPr/>
        </p:nvSpPr>
        <p:spPr>
          <a:xfrm>
            <a:off x="304800" y="2288968"/>
            <a:ext cx="8645236" cy="2585323"/>
          </a:xfrm>
          <a:prstGeom prst="rect">
            <a:avLst/>
          </a:prstGeom>
        </p:spPr>
        <p:txBody>
          <a:bodyPr wrap="square">
            <a:spAutoFit/>
          </a:bodyPr>
          <a:lstStyle/>
          <a:p>
            <a:r>
              <a:rPr lang="en-US" dirty="0"/>
              <a:t>Disadvantages of NAT</a:t>
            </a:r>
          </a:p>
          <a:p>
            <a:endParaRPr lang="en-US" dirty="0"/>
          </a:p>
          <a:p>
            <a:r>
              <a:rPr lang="en-US" dirty="0"/>
              <a:t>• NAT (Network Address Translation) is a processor and memory resource consuming technology, since NAT (Network Address Translation) need to translate IPv4 addresses for all incoming and outgoing IPv4 datagrams and to keep the translation details in memory.</a:t>
            </a:r>
          </a:p>
          <a:p>
            <a:endParaRPr lang="en-US" dirty="0"/>
          </a:p>
          <a:p>
            <a:r>
              <a:rPr lang="en-US" dirty="0"/>
              <a:t>• NAT (Network Address Translation) may cause delay in IPv4 communication.</a:t>
            </a:r>
          </a:p>
          <a:p>
            <a:endParaRPr lang="en-US" dirty="0"/>
          </a:p>
          <a:p>
            <a:r>
              <a:rPr lang="en-US" dirty="0"/>
              <a:t>• NAT (Network Address Translation) cause loss of end-device to end-device IP traceability</a:t>
            </a:r>
          </a:p>
        </p:txBody>
      </p:sp>
    </p:spTree>
    <p:extLst>
      <p:ext uri="{BB962C8B-B14F-4D97-AF65-F5344CB8AC3E}">
        <p14:creationId xmlns:p14="http://schemas.microsoft.com/office/powerpoint/2010/main" val="41035908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6" name="Rectangle 5"/>
          <p:cNvSpPr/>
          <p:nvPr/>
        </p:nvSpPr>
        <p:spPr>
          <a:xfrm>
            <a:off x="335494" y="2105561"/>
            <a:ext cx="7589306" cy="1631216"/>
          </a:xfrm>
          <a:prstGeom prst="rect">
            <a:avLst/>
          </a:prstGeom>
        </p:spPr>
        <p:txBody>
          <a:bodyPr wrap="square">
            <a:spAutoFit/>
          </a:bodyPr>
          <a:lstStyle/>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Data Communications and Networking</a:t>
            </a:r>
            <a:r>
              <a:rPr lang="en-US" sz="20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B. A. </a:t>
            </a:r>
            <a:r>
              <a:rPr lang="en-US" sz="2000" i="1" dirty="0" err="1">
                <a:latin typeface="Times New Roman" panose="02020603050405020304" pitchFamily="18" charset="0"/>
                <a:cs typeface="Times New Roman" panose="02020603050405020304" pitchFamily="18" charset="0"/>
              </a:rPr>
              <a:t>Forouzan</a:t>
            </a:r>
            <a:r>
              <a:rPr lang="en-US" sz="2000" dirty="0">
                <a:latin typeface="Times New Roman" panose="02020603050405020304" pitchFamily="18" charset="0"/>
                <a:cs typeface="Times New Roman" panose="02020603050405020304" pitchFamily="18" charset="0"/>
              </a:rPr>
              <a:t>, McGraw-Hill, Inc., Fourth Edition, 2007, USA.</a:t>
            </a:r>
          </a:p>
          <a:p>
            <a:pPr marL="971550" lvl="1" indent="-514350" algn="just">
              <a:buFont typeface="+mj-lt"/>
              <a:buAutoNum type="arabicPeriod"/>
            </a:pPr>
            <a:r>
              <a:rPr lang="en-US" sz="2000" dirty="0">
                <a:hlinkClick r:id="rId2"/>
              </a:rPr>
              <a:t>https://www.geeksforgeeks.org/basics-computer-networking/</a:t>
            </a:r>
            <a:endParaRPr lang="en-US" sz="2000" dirty="0"/>
          </a:p>
          <a:p>
            <a:pPr marL="971550" lvl="1" indent="-514350" algn="just">
              <a:buFont typeface="+mj-lt"/>
              <a:buAutoNum type="arabicPeriod"/>
            </a:pPr>
            <a:r>
              <a:rPr lang="en-US" sz="2000" dirty="0">
                <a:hlinkClick r:id="rId3"/>
              </a:rPr>
              <a:t>https://www.tutorialspoint.com/computer_fundamentals/computer_networking.htm</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49698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Content Placeholder 2">
            <a:extLst>
              <a:ext uri="{FF2B5EF4-FFF2-40B4-BE49-F238E27FC236}">
                <a16:creationId xmlns:a16="http://schemas.microsoft.com/office/drawing/2014/main" id="{73A389DD-4CDA-4C45-A68C-DC9EEB6DC9BD}"/>
              </a:ext>
            </a:extLst>
          </p:cNvPr>
          <p:cNvSpPr txBox="1">
            <a:spLocks/>
          </p:cNvSpPr>
          <p:nvPr/>
        </p:nvSpPr>
        <p:spPr>
          <a:xfrm>
            <a:off x="-284019" y="1271443"/>
            <a:ext cx="9289474" cy="4351338"/>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endParaRPr lang="en-US" dirty="0"/>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Data Communications and Networking</a:t>
            </a:r>
            <a:r>
              <a:rPr lang="en-US" sz="2000"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B. A. </a:t>
            </a:r>
            <a:r>
              <a:rPr lang="en-US" sz="2000" i="1" dirty="0" err="1">
                <a:latin typeface="Times New Roman" panose="02020603050405020304" pitchFamily="18" charset="0"/>
                <a:cs typeface="Times New Roman" panose="02020603050405020304" pitchFamily="18" charset="0"/>
              </a:rPr>
              <a:t>Forouzan</a:t>
            </a:r>
            <a:r>
              <a:rPr lang="en-US" sz="2000" dirty="0">
                <a:latin typeface="Times New Roman" panose="02020603050405020304" pitchFamily="18" charset="0"/>
                <a:cs typeface="Times New Roman" panose="02020603050405020304" pitchFamily="18" charset="0"/>
              </a:rPr>
              <a:t>, McGraw-Hill, Inc., Fourth Edition, 2007,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Computer Networking: A Top-Down Approach</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J. F., Kurose, K. W. Ross</a:t>
            </a:r>
            <a:r>
              <a:rPr lang="en-US" sz="2000" dirty="0">
                <a:latin typeface="Times New Roman" panose="02020603050405020304" pitchFamily="18" charset="0"/>
                <a:cs typeface="Times New Roman" panose="02020603050405020304" pitchFamily="18" charset="0"/>
              </a:rPr>
              <a:t>, Pearson Education, Inc., Sixth Edition,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Official Cert Guide CCNA 200-301 , vol. 1</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W. Odom</a:t>
            </a:r>
            <a:r>
              <a:rPr lang="en-US" sz="2000" dirty="0">
                <a:latin typeface="Times New Roman" panose="02020603050405020304" pitchFamily="18" charset="0"/>
                <a:cs typeface="Times New Roman" panose="02020603050405020304" pitchFamily="18" charset="0"/>
              </a:rPr>
              <a:t>, Cisco Press, First Edition, 2019,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CCNA Routing and Switching</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T. </a:t>
            </a:r>
            <a:r>
              <a:rPr lang="en-US" sz="2000" i="1" dirty="0" err="1">
                <a:latin typeface="Times New Roman" panose="02020603050405020304" pitchFamily="18" charset="0"/>
                <a:cs typeface="Times New Roman" panose="02020603050405020304" pitchFamily="18" charset="0"/>
              </a:rPr>
              <a:t>Lammle</a:t>
            </a:r>
            <a:r>
              <a:rPr lang="en-US" sz="2000" dirty="0">
                <a:latin typeface="Times New Roman" panose="02020603050405020304" pitchFamily="18" charset="0"/>
                <a:cs typeface="Times New Roman" panose="02020603050405020304" pitchFamily="18" charset="0"/>
              </a:rPr>
              <a:t>, John Wily &amp; Sons, Second Edition, 2016, USA.</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TCP/IP Protocol Suite</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B. A. </a:t>
            </a:r>
            <a:r>
              <a:rPr lang="en-US" sz="2000" i="1" dirty="0" err="1">
                <a:latin typeface="Times New Roman" panose="02020603050405020304" pitchFamily="18" charset="0"/>
                <a:cs typeface="Times New Roman" panose="02020603050405020304" pitchFamily="18" charset="0"/>
              </a:rPr>
              <a:t>Forouzan</a:t>
            </a:r>
            <a:r>
              <a:rPr lang="en-US" sz="2000" dirty="0">
                <a:latin typeface="Times New Roman" panose="02020603050405020304" pitchFamily="18" charset="0"/>
                <a:cs typeface="Times New Roman" panose="02020603050405020304" pitchFamily="18" charset="0"/>
              </a:rPr>
              <a:t>, McGraw-Hill, Inc., Fourth Edition, 2009, USA. </a:t>
            </a:r>
          </a:p>
          <a:p>
            <a:pPr marL="971550" lvl="1" indent="-514350" algn="just">
              <a:buFont typeface="+mj-lt"/>
              <a:buAutoNum type="arabicPeriod"/>
            </a:pPr>
            <a:r>
              <a:rPr lang="en-US" sz="2000" b="1" dirty="0">
                <a:latin typeface="Times New Roman" panose="02020603050405020304" pitchFamily="18" charset="0"/>
                <a:cs typeface="Times New Roman" panose="02020603050405020304" pitchFamily="18" charset="0"/>
              </a:rPr>
              <a:t>Data and Computer Communication</a:t>
            </a:r>
            <a:r>
              <a:rPr lang="en-US" sz="2000" dirty="0">
                <a:latin typeface="Times New Roman" panose="02020603050405020304" pitchFamily="18" charset="0"/>
                <a:cs typeface="Times New Roman" panose="02020603050405020304" pitchFamily="18" charset="0"/>
              </a:rPr>
              <a:t>, </a:t>
            </a:r>
            <a:r>
              <a:rPr lang="en-US" sz="2000" i="1" dirty="0">
                <a:latin typeface="Times New Roman" panose="02020603050405020304" pitchFamily="18" charset="0"/>
                <a:cs typeface="Times New Roman" panose="02020603050405020304" pitchFamily="18" charset="0"/>
              </a:rPr>
              <a:t>W. Stallings</a:t>
            </a:r>
            <a:r>
              <a:rPr lang="en-US" sz="2000" dirty="0">
                <a:latin typeface="Times New Roman" panose="02020603050405020304" pitchFamily="18" charset="0"/>
                <a:cs typeface="Times New Roman" panose="02020603050405020304" pitchFamily="18" charset="0"/>
              </a:rPr>
              <a:t>, Pearson Education, Inc., 10</a:t>
            </a:r>
            <a:r>
              <a:rPr lang="en-US" sz="2000" baseline="30000" dirty="0">
                <a:latin typeface="Times New Roman" panose="02020603050405020304" pitchFamily="18" charset="0"/>
                <a:cs typeface="Times New Roman" panose="02020603050405020304" pitchFamily="18" charset="0"/>
              </a:rPr>
              <a:t>th</a:t>
            </a:r>
            <a:r>
              <a:rPr lang="en-US" sz="2000" dirty="0">
                <a:latin typeface="Times New Roman" panose="02020603050405020304" pitchFamily="18" charset="0"/>
                <a:cs typeface="Times New Roman" panose="02020603050405020304" pitchFamily="18" charset="0"/>
              </a:rPr>
              <a:t> Education, 2013, USA.</a:t>
            </a:r>
          </a:p>
        </p:txBody>
      </p:sp>
    </p:spTree>
    <p:extLst>
      <p:ext uri="{BB962C8B-B14F-4D97-AF65-F5344CB8AC3E}">
        <p14:creationId xmlns:p14="http://schemas.microsoft.com/office/powerpoint/2010/main" val="1923382373"/>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130A8883D509741AAD9698FAF47E5F3" ma:contentTypeVersion="3" ma:contentTypeDescription="Create a new document." ma:contentTypeScope="" ma:versionID="cb1aed282deb53376718859fe67fe0d6">
  <xsd:schema xmlns:xsd="http://www.w3.org/2001/XMLSchema" xmlns:xs="http://www.w3.org/2001/XMLSchema" xmlns:p="http://schemas.microsoft.com/office/2006/metadata/properties" xmlns:ns2="9c9eb58d-2f4c-499b-ab9c-47c1d5de8bf8" targetNamespace="http://schemas.microsoft.com/office/2006/metadata/properties" ma:root="true" ma:fieldsID="c7d838d636f2945413649be92e4efa58" ns2:_="">
    <xsd:import namespace="9c9eb58d-2f4c-499b-ab9c-47c1d5de8bf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9eb58d-2f4c-499b-ab9c-47c1d5de8bf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6CF033C-D8C5-4192-9F60-8C4971AD975E}"/>
</file>

<file path=customXml/itemProps2.xml><?xml version="1.0" encoding="utf-8"?>
<ds:datastoreItem xmlns:ds="http://schemas.openxmlformats.org/officeDocument/2006/customXml" ds:itemID="{5BCA7940-207C-41A8-B01A-3879FDA9DA48}"/>
</file>

<file path=customXml/itemProps3.xml><?xml version="1.0" encoding="utf-8"?>
<ds:datastoreItem xmlns:ds="http://schemas.openxmlformats.org/officeDocument/2006/customXml" ds:itemID="{50A35C38-763C-4AB6-9F5C-25C648F07A05}"/>
</file>

<file path=docProps/app.xml><?xml version="1.0" encoding="utf-8"?>
<Properties xmlns="http://schemas.openxmlformats.org/officeDocument/2006/extended-properties" xmlns:vt="http://schemas.openxmlformats.org/officeDocument/2006/docPropsVTypes">
  <Template>Spectrum.thmx</Template>
  <TotalTime>2758</TotalTime>
  <Words>1124</Words>
  <Application>Microsoft Office PowerPoint</Application>
  <PresentationFormat>On-screen Show (4:3)</PresentationFormat>
  <Paragraphs>134</Paragraphs>
  <Slides>21</Slides>
  <Notes>16</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28" baseType="lpstr">
      <vt:lpstr>Arial</vt:lpstr>
      <vt:lpstr>Calibri</vt:lpstr>
      <vt:lpstr>Corbel</vt:lpstr>
      <vt:lpstr>Times New Roman</vt:lpstr>
      <vt:lpstr>Wingdings</vt:lpstr>
      <vt:lpstr>Spectrum</vt:lpstr>
      <vt:lpstr>Visio</vt:lpstr>
      <vt:lpstr>NAT  &amp;  PAT</vt:lpstr>
      <vt:lpstr>Lecture Outline</vt:lpstr>
      <vt:lpstr>Private Network</vt:lpstr>
      <vt:lpstr>Private Addresses</vt:lpstr>
      <vt:lpstr>Network Address Translation (NAT)</vt:lpstr>
      <vt:lpstr>Network Address Translation (NAT) (cont…)</vt:lpstr>
      <vt:lpstr>Basic Operation of NAT</vt:lpstr>
      <vt:lpstr>Pooling of IP Addresses</vt:lpstr>
      <vt:lpstr>Pooling of IP Addresses (cont…)</vt:lpstr>
      <vt:lpstr>Supporting Migration between  Network Service Providers</vt:lpstr>
      <vt:lpstr>Supporting Migration between  network service Providers (cont…)</vt:lpstr>
      <vt:lpstr>IP Masquerading</vt:lpstr>
      <vt:lpstr>IP Masquerading (cont…)</vt:lpstr>
      <vt:lpstr>PowerPoint Presentation</vt:lpstr>
      <vt:lpstr>Load Balancing of Servers</vt:lpstr>
      <vt:lpstr>Load Balancing of Servers (cont…)</vt:lpstr>
      <vt:lpstr>Concerns about NAT</vt:lpstr>
      <vt:lpstr>Advantage</vt:lpstr>
      <vt:lpstr>Disadvantage</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Afsah Sharmin</cp:lastModifiedBy>
  <cp:revision>225</cp:revision>
  <dcterms:created xsi:type="dcterms:W3CDTF">2018-12-10T17:20:29Z</dcterms:created>
  <dcterms:modified xsi:type="dcterms:W3CDTF">2022-11-08T03:59:43Z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0x0101000130A8883D509741AAD9698FAF47E5F3</vt:lpwstr>
  </property>
</Properties>
</file>